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211"/>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1E6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0"/>
            <a:ext cx="12191695" cy="201168"/>
          </a:xfrm>
          <a:prstGeom prst="rect">
            <a:avLst/>
          </a:prstGeom>
          <a:noFill/>
        </p:spPr>
        <p:txBody>
          <a:bodyPr wrap="square" lIns="18288" rIns="18288" tIns="18288" bIns="18288" anchor="ctr">
            <a:spAutoFit/>
          </a:bodyPr>
          <a:lstStyle/>
          <a:p>
            <a:pPr algn="ctr">
              <a:lnSpc>
                <a:spcPct val="110000"/>
              </a:lnSpc>
              <a:spcAft>
                <a:spcPts val="400"/>
              </a:spcAft>
            </a:pPr>
            <a:r>
              <a:rPr sz="900" b="1" i="0">
                <a:solidFill>
                  <a:srgbClr val="FFFFFF"/>
                </a:solidFill>
                <a:latin typeface="Arial"/>
              </a:rPr>
              <a:t>UNCLASSIFIED // EXERCISE · NOTIONAL DATA</a:t>
            </a:r>
          </a:p>
        </p:txBody>
      </p:sp>
      <p:sp>
        <p:nvSpPr>
          <p:cNvPr id="4" name="TextBox 3"/>
          <p:cNvSpPr txBox="1"/>
          <p:nvPr/>
        </p:nvSpPr>
        <p:spPr>
          <a:xfrm>
            <a:off x="548640" y="548640"/>
            <a:ext cx="5852160" cy="274320"/>
          </a:xfrm>
          <a:prstGeom prst="rect">
            <a:avLst/>
          </a:prstGeom>
          <a:noFill/>
        </p:spPr>
        <p:txBody>
          <a:bodyPr wrap="square" lIns="18288" rIns="18288" tIns="18288" bIns="18288" anchor="t">
            <a:spAutoFit/>
          </a:bodyPr>
          <a:lstStyle/>
          <a:p>
            <a:pPr algn="l">
              <a:lnSpc>
                <a:spcPct val="110000"/>
              </a:lnSpc>
              <a:spcAft>
                <a:spcPts val="400"/>
              </a:spcAft>
            </a:pPr>
            <a:r>
              <a:rPr sz="1200" b="1" i="0">
                <a:solidFill>
                  <a:srgbClr val="86B6EF"/>
                </a:solidFill>
                <a:latin typeface="Arial"/>
              </a:rPr>
              <a:t>SMART INDIA HACKATHON 2026 · IDEA PRESENTATION</a:t>
            </a:r>
          </a:p>
        </p:txBody>
      </p:sp>
      <p:sp>
        <p:nvSpPr>
          <p:cNvPr id="5" name="TextBox 4"/>
          <p:cNvSpPr txBox="1"/>
          <p:nvPr/>
        </p:nvSpPr>
        <p:spPr>
          <a:xfrm>
            <a:off x="548640" y="914400"/>
            <a:ext cx="5852160" cy="822960"/>
          </a:xfrm>
          <a:prstGeom prst="rect">
            <a:avLst/>
          </a:prstGeom>
          <a:noFill/>
        </p:spPr>
        <p:txBody>
          <a:bodyPr wrap="square" lIns="18288" rIns="18288" tIns="18288" bIns="18288" anchor="t">
            <a:spAutoFit/>
          </a:bodyPr>
          <a:lstStyle/>
          <a:p>
            <a:pPr algn="l">
              <a:lnSpc>
                <a:spcPct val="110000"/>
              </a:lnSpc>
              <a:spcAft>
                <a:spcPts val="400"/>
              </a:spcAft>
            </a:pPr>
            <a:r>
              <a:rPr sz="4800" b="1" i="0">
                <a:solidFill>
                  <a:srgbClr val="FFFFFF"/>
                </a:solidFill>
                <a:latin typeface="Arial"/>
              </a:rPr>
              <a:t>VAYU-SARTHI</a:t>
            </a:r>
          </a:p>
        </p:txBody>
      </p:sp>
      <p:sp>
        <p:nvSpPr>
          <p:cNvPr id="6" name="TextBox 5"/>
          <p:cNvSpPr txBox="1"/>
          <p:nvPr/>
        </p:nvSpPr>
        <p:spPr>
          <a:xfrm>
            <a:off x="548640" y="1783080"/>
            <a:ext cx="5669280" cy="914400"/>
          </a:xfrm>
          <a:prstGeom prst="rect">
            <a:avLst/>
          </a:prstGeom>
          <a:noFill/>
        </p:spPr>
        <p:txBody>
          <a:bodyPr wrap="square" lIns="18288" rIns="18288" tIns="18288" bIns="18288" anchor="t">
            <a:spAutoFit/>
          </a:bodyPr>
          <a:lstStyle/>
          <a:p>
            <a:pPr algn="l">
              <a:lnSpc>
                <a:spcPct val="115000"/>
              </a:lnSpc>
              <a:spcAft>
                <a:spcPts val="400"/>
              </a:spcAft>
            </a:pPr>
            <a:r>
              <a:rPr sz="1700" b="0" i="0">
                <a:solidFill>
                  <a:srgbClr val="C3C2B7"/>
                </a:solidFill>
                <a:latin typeface="Arial"/>
              </a:rPr>
              <a:t>An explainable decision engine that plans air operations, predicts disruption and re-plans in seconds, changing as little as possible. The commander decides.</a:t>
            </a:r>
          </a:p>
        </p:txBody>
      </p:sp>
      <p:sp>
        <p:nvSpPr>
          <p:cNvPr id="7" name="TextBox 6"/>
          <p:cNvSpPr txBox="1"/>
          <p:nvPr/>
        </p:nvSpPr>
        <p:spPr>
          <a:xfrm>
            <a:off x="548640" y="2926080"/>
            <a:ext cx="2103120" cy="365760"/>
          </a:xfrm>
          <a:prstGeom prst="rect">
            <a:avLst/>
          </a:prstGeom>
          <a:noFill/>
        </p:spPr>
        <p:txBody>
          <a:bodyPr wrap="square" lIns="18288" rIns="18288" tIns="18288" bIns="18288" anchor="t">
            <a:spAutoFit/>
          </a:bodyPr>
          <a:lstStyle/>
          <a:p>
            <a:pPr algn="l">
              <a:lnSpc>
                <a:spcPct val="110000"/>
              </a:lnSpc>
              <a:spcAft>
                <a:spcPts val="400"/>
              </a:spcAft>
            </a:pPr>
            <a:r>
              <a:rPr sz="1200" b="0" i="0">
                <a:solidFill>
                  <a:srgbClr val="898781"/>
                </a:solidFill>
                <a:latin typeface="Arial"/>
              </a:rPr>
              <a:t>Problem Statement ID</a:t>
            </a:r>
          </a:p>
        </p:txBody>
      </p:sp>
      <p:sp>
        <p:nvSpPr>
          <p:cNvPr id="8" name="TextBox 7"/>
          <p:cNvSpPr txBox="1"/>
          <p:nvPr/>
        </p:nvSpPr>
        <p:spPr>
          <a:xfrm>
            <a:off x="2651760" y="2926080"/>
            <a:ext cx="3840480" cy="365760"/>
          </a:xfrm>
          <a:prstGeom prst="rect">
            <a:avLst/>
          </a:prstGeom>
          <a:noFill/>
        </p:spPr>
        <p:txBody>
          <a:bodyPr wrap="square" lIns="18288" rIns="18288" tIns="18288" bIns="18288" anchor="t">
            <a:spAutoFit/>
          </a:bodyPr>
          <a:lstStyle/>
          <a:p>
            <a:pPr algn="l">
              <a:lnSpc>
                <a:spcPct val="110000"/>
              </a:lnSpc>
              <a:spcAft>
                <a:spcPts val="400"/>
              </a:spcAft>
            </a:pPr>
            <a:r>
              <a:rPr sz="1300" b="1" i="0">
                <a:solidFill>
                  <a:srgbClr val="FFFFFF"/>
                </a:solidFill>
                <a:latin typeface="Arial"/>
              </a:rPr>
              <a:t>26250</a:t>
            </a:r>
          </a:p>
        </p:txBody>
      </p:sp>
      <p:sp>
        <p:nvSpPr>
          <p:cNvPr id="9" name="TextBox 8"/>
          <p:cNvSpPr txBox="1"/>
          <p:nvPr/>
        </p:nvSpPr>
        <p:spPr>
          <a:xfrm>
            <a:off x="548640" y="3291840"/>
            <a:ext cx="2103120" cy="566928"/>
          </a:xfrm>
          <a:prstGeom prst="rect">
            <a:avLst/>
          </a:prstGeom>
          <a:noFill/>
        </p:spPr>
        <p:txBody>
          <a:bodyPr wrap="square" lIns="18288" rIns="18288" tIns="18288" bIns="18288" anchor="t">
            <a:spAutoFit/>
          </a:bodyPr>
          <a:lstStyle/>
          <a:p>
            <a:pPr algn="l">
              <a:lnSpc>
                <a:spcPct val="110000"/>
              </a:lnSpc>
              <a:spcAft>
                <a:spcPts val="400"/>
              </a:spcAft>
            </a:pPr>
            <a:r>
              <a:rPr sz="1200" b="0" i="0">
                <a:solidFill>
                  <a:srgbClr val="898781"/>
                </a:solidFill>
                <a:latin typeface="Arial"/>
              </a:rPr>
              <a:t>Problem Statement title</a:t>
            </a:r>
          </a:p>
        </p:txBody>
      </p:sp>
      <p:sp>
        <p:nvSpPr>
          <p:cNvPr id="10" name="TextBox 9"/>
          <p:cNvSpPr txBox="1"/>
          <p:nvPr/>
        </p:nvSpPr>
        <p:spPr>
          <a:xfrm>
            <a:off x="2651760" y="3291840"/>
            <a:ext cx="3840480" cy="566928"/>
          </a:xfrm>
          <a:prstGeom prst="rect">
            <a:avLst/>
          </a:prstGeom>
          <a:noFill/>
        </p:spPr>
        <p:txBody>
          <a:bodyPr wrap="square" lIns="18288" rIns="18288" tIns="18288" bIns="18288" anchor="t">
            <a:spAutoFit/>
          </a:bodyPr>
          <a:lstStyle/>
          <a:p>
            <a:pPr algn="l">
              <a:lnSpc>
                <a:spcPct val="110000"/>
              </a:lnSpc>
              <a:spcAft>
                <a:spcPts val="400"/>
              </a:spcAft>
            </a:pPr>
            <a:r>
              <a:rPr sz="1300" b="1" i="0">
                <a:solidFill>
                  <a:srgbClr val="FFFFFF"/>
                </a:solidFill>
                <a:latin typeface="Arial"/>
              </a:rPr>
              <a:t>Air Power: Dynamic Air Operations &amp; Resource Optimisation</a:t>
            </a:r>
          </a:p>
        </p:txBody>
      </p:sp>
      <p:sp>
        <p:nvSpPr>
          <p:cNvPr id="11" name="TextBox 10"/>
          <p:cNvSpPr txBox="1"/>
          <p:nvPr/>
        </p:nvSpPr>
        <p:spPr>
          <a:xfrm>
            <a:off x="548640" y="3858768"/>
            <a:ext cx="2103120" cy="566928"/>
          </a:xfrm>
          <a:prstGeom prst="rect">
            <a:avLst/>
          </a:prstGeom>
          <a:noFill/>
        </p:spPr>
        <p:txBody>
          <a:bodyPr wrap="square" lIns="18288" rIns="18288" tIns="18288" bIns="18288" anchor="t">
            <a:spAutoFit/>
          </a:bodyPr>
          <a:lstStyle/>
          <a:p>
            <a:pPr algn="l">
              <a:lnSpc>
                <a:spcPct val="110000"/>
              </a:lnSpc>
              <a:spcAft>
                <a:spcPts val="400"/>
              </a:spcAft>
            </a:pPr>
            <a:r>
              <a:rPr sz="1200" b="0" i="0">
                <a:solidFill>
                  <a:srgbClr val="898781"/>
                </a:solidFill>
                <a:latin typeface="Arial"/>
              </a:rPr>
              <a:t>Organisation</a:t>
            </a:r>
          </a:p>
        </p:txBody>
      </p:sp>
      <p:sp>
        <p:nvSpPr>
          <p:cNvPr id="12" name="TextBox 11"/>
          <p:cNvSpPr txBox="1"/>
          <p:nvPr/>
        </p:nvSpPr>
        <p:spPr>
          <a:xfrm>
            <a:off x="2651760" y="3858768"/>
            <a:ext cx="3840480" cy="566928"/>
          </a:xfrm>
          <a:prstGeom prst="rect">
            <a:avLst/>
          </a:prstGeom>
          <a:noFill/>
        </p:spPr>
        <p:txBody>
          <a:bodyPr wrap="square" lIns="18288" rIns="18288" tIns="18288" bIns="18288" anchor="t">
            <a:spAutoFit/>
          </a:bodyPr>
          <a:lstStyle/>
          <a:p>
            <a:pPr algn="l">
              <a:lnSpc>
                <a:spcPct val="110000"/>
              </a:lnSpc>
              <a:spcAft>
                <a:spcPts val="400"/>
              </a:spcAft>
            </a:pPr>
            <a:r>
              <a:rPr sz="1300" b="1" i="0">
                <a:solidFill>
                  <a:srgbClr val="FFFFFF"/>
                </a:solidFill>
                <a:latin typeface="Arial"/>
              </a:rPr>
              <a:t>Ministry of Defence · Defence Services Staff College</a:t>
            </a:r>
          </a:p>
        </p:txBody>
      </p:sp>
      <p:sp>
        <p:nvSpPr>
          <p:cNvPr id="13" name="TextBox 12"/>
          <p:cNvSpPr txBox="1"/>
          <p:nvPr/>
        </p:nvSpPr>
        <p:spPr>
          <a:xfrm>
            <a:off x="548640" y="4425696"/>
            <a:ext cx="2103120" cy="365760"/>
          </a:xfrm>
          <a:prstGeom prst="rect">
            <a:avLst/>
          </a:prstGeom>
          <a:noFill/>
        </p:spPr>
        <p:txBody>
          <a:bodyPr wrap="square" lIns="18288" rIns="18288" tIns="18288" bIns="18288" anchor="t">
            <a:spAutoFit/>
          </a:bodyPr>
          <a:lstStyle/>
          <a:p>
            <a:pPr algn="l">
              <a:lnSpc>
                <a:spcPct val="110000"/>
              </a:lnSpc>
              <a:spcAft>
                <a:spcPts val="400"/>
              </a:spcAft>
            </a:pPr>
            <a:r>
              <a:rPr sz="1200" b="0" i="0">
                <a:solidFill>
                  <a:srgbClr val="898781"/>
                </a:solidFill>
                <a:latin typeface="Arial"/>
              </a:rPr>
              <a:t>Theme</a:t>
            </a:r>
          </a:p>
        </p:txBody>
      </p:sp>
      <p:sp>
        <p:nvSpPr>
          <p:cNvPr id="14" name="TextBox 13"/>
          <p:cNvSpPr txBox="1"/>
          <p:nvPr/>
        </p:nvSpPr>
        <p:spPr>
          <a:xfrm>
            <a:off x="2651760" y="4425696"/>
            <a:ext cx="3840480" cy="365760"/>
          </a:xfrm>
          <a:prstGeom prst="rect">
            <a:avLst/>
          </a:prstGeom>
          <a:noFill/>
        </p:spPr>
        <p:txBody>
          <a:bodyPr wrap="square" lIns="18288" rIns="18288" tIns="18288" bIns="18288" anchor="t">
            <a:spAutoFit/>
          </a:bodyPr>
          <a:lstStyle/>
          <a:p>
            <a:pPr algn="l">
              <a:lnSpc>
                <a:spcPct val="110000"/>
              </a:lnSpc>
              <a:spcAft>
                <a:spcPts val="400"/>
              </a:spcAft>
            </a:pPr>
            <a:r>
              <a:rPr sz="1300" b="1" i="0">
                <a:solidFill>
                  <a:srgbClr val="FFFFFF"/>
                </a:solidFill>
                <a:latin typeface="Arial"/>
              </a:rPr>
              <a:t>Transportation &amp; Logistics</a:t>
            </a:r>
          </a:p>
        </p:txBody>
      </p:sp>
      <p:sp>
        <p:nvSpPr>
          <p:cNvPr id="15" name="TextBox 14"/>
          <p:cNvSpPr txBox="1"/>
          <p:nvPr/>
        </p:nvSpPr>
        <p:spPr>
          <a:xfrm>
            <a:off x="548640" y="4791456"/>
            <a:ext cx="2103120" cy="365760"/>
          </a:xfrm>
          <a:prstGeom prst="rect">
            <a:avLst/>
          </a:prstGeom>
          <a:noFill/>
        </p:spPr>
        <p:txBody>
          <a:bodyPr wrap="square" lIns="18288" rIns="18288" tIns="18288" bIns="18288" anchor="t">
            <a:spAutoFit/>
          </a:bodyPr>
          <a:lstStyle/>
          <a:p>
            <a:pPr algn="l">
              <a:lnSpc>
                <a:spcPct val="110000"/>
              </a:lnSpc>
              <a:spcAft>
                <a:spcPts val="400"/>
              </a:spcAft>
            </a:pPr>
            <a:r>
              <a:rPr sz="1200" b="0" i="0">
                <a:solidFill>
                  <a:srgbClr val="898781"/>
                </a:solidFill>
                <a:latin typeface="Arial"/>
              </a:rPr>
              <a:t>PS category</a:t>
            </a:r>
          </a:p>
        </p:txBody>
      </p:sp>
      <p:sp>
        <p:nvSpPr>
          <p:cNvPr id="16" name="TextBox 15"/>
          <p:cNvSpPr txBox="1"/>
          <p:nvPr/>
        </p:nvSpPr>
        <p:spPr>
          <a:xfrm>
            <a:off x="2651760" y="4791456"/>
            <a:ext cx="3840480" cy="365760"/>
          </a:xfrm>
          <a:prstGeom prst="rect">
            <a:avLst/>
          </a:prstGeom>
          <a:noFill/>
        </p:spPr>
        <p:txBody>
          <a:bodyPr wrap="square" lIns="18288" rIns="18288" tIns="18288" bIns="18288" anchor="t">
            <a:spAutoFit/>
          </a:bodyPr>
          <a:lstStyle/>
          <a:p>
            <a:pPr algn="l">
              <a:lnSpc>
                <a:spcPct val="110000"/>
              </a:lnSpc>
              <a:spcAft>
                <a:spcPts val="400"/>
              </a:spcAft>
            </a:pPr>
            <a:r>
              <a:rPr sz="1300" b="1" i="0">
                <a:solidFill>
                  <a:srgbClr val="FFFFFF"/>
                </a:solidFill>
                <a:latin typeface="Arial"/>
              </a:rPr>
              <a:t>Software</a:t>
            </a:r>
          </a:p>
        </p:txBody>
      </p:sp>
      <p:sp>
        <p:nvSpPr>
          <p:cNvPr id="17" name="TextBox 16"/>
          <p:cNvSpPr txBox="1"/>
          <p:nvPr/>
        </p:nvSpPr>
        <p:spPr>
          <a:xfrm>
            <a:off x="548640" y="5157216"/>
            <a:ext cx="2103120" cy="365760"/>
          </a:xfrm>
          <a:prstGeom prst="rect">
            <a:avLst/>
          </a:prstGeom>
          <a:noFill/>
        </p:spPr>
        <p:txBody>
          <a:bodyPr wrap="square" lIns="18288" rIns="18288" tIns="18288" bIns="18288" anchor="t">
            <a:spAutoFit/>
          </a:bodyPr>
          <a:lstStyle/>
          <a:p>
            <a:pPr algn="l">
              <a:lnSpc>
                <a:spcPct val="110000"/>
              </a:lnSpc>
              <a:spcAft>
                <a:spcPts val="400"/>
              </a:spcAft>
            </a:pPr>
            <a:r>
              <a:rPr sz="1200" b="0" i="0">
                <a:solidFill>
                  <a:srgbClr val="898781"/>
                </a:solidFill>
                <a:latin typeface="Arial"/>
              </a:rPr>
              <a:t>Team ID</a:t>
            </a:r>
          </a:p>
        </p:txBody>
      </p:sp>
      <p:sp>
        <p:nvSpPr>
          <p:cNvPr id="18" name="TextBox 17"/>
          <p:cNvSpPr txBox="1"/>
          <p:nvPr/>
        </p:nvSpPr>
        <p:spPr>
          <a:xfrm>
            <a:off x="2651760" y="5157216"/>
            <a:ext cx="3840480" cy="365760"/>
          </a:xfrm>
          <a:prstGeom prst="rect">
            <a:avLst/>
          </a:prstGeom>
          <a:noFill/>
        </p:spPr>
        <p:txBody>
          <a:bodyPr wrap="square" lIns="18288" rIns="18288" tIns="18288" bIns="18288" anchor="t">
            <a:spAutoFit/>
          </a:bodyPr>
          <a:lstStyle/>
          <a:p>
            <a:pPr algn="l">
              <a:lnSpc>
                <a:spcPct val="110000"/>
              </a:lnSpc>
              <a:spcAft>
                <a:spcPts val="400"/>
              </a:spcAft>
            </a:pPr>
            <a:r>
              <a:rPr sz="1300" b="1" i="0">
                <a:solidFill>
                  <a:srgbClr val="FFFFFF"/>
                </a:solidFill>
                <a:latin typeface="Arial"/>
              </a:rPr>
              <a:t>________</a:t>
            </a:r>
          </a:p>
        </p:txBody>
      </p:sp>
      <p:sp>
        <p:nvSpPr>
          <p:cNvPr id="19" name="TextBox 18"/>
          <p:cNvSpPr txBox="1"/>
          <p:nvPr/>
        </p:nvSpPr>
        <p:spPr>
          <a:xfrm>
            <a:off x="548640" y="5522976"/>
            <a:ext cx="2103120" cy="365760"/>
          </a:xfrm>
          <a:prstGeom prst="rect">
            <a:avLst/>
          </a:prstGeom>
          <a:noFill/>
        </p:spPr>
        <p:txBody>
          <a:bodyPr wrap="square" lIns="18288" rIns="18288" tIns="18288" bIns="18288" anchor="t">
            <a:spAutoFit/>
          </a:bodyPr>
          <a:lstStyle/>
          <a:p>
            <a:pPr algn="l">
              <a:lnSpc>
                <a:spcPct val="110000"/>
              </a:lnSpc>
              <a:spcAft>
                <a:spcPts val="400"/>
              </a:spcAft>
            </a:pPr>
            <a:r>
              <a:rPr sz="1200" b="0" i="0">
                <a:solidFill>
                  <a:srgbClr val="898781"/>
                </a:solidFill>
                <a:latin typeface="Arial"/>
              </a:rPr>
              <a:t>Team name</a:t>
            </a:r>
          </a:p>
        </p:txBody>
      </p:sp>
      <p:sp>
        <p:nvSpPr>
          <p:cNvPr id="20" name="TextBox 19"/>
          <p:cNvSpPr txBox="1"/>
          <p:nvPr/>
        </p:nvSpPr>
        <p:spPr>
          <a:xfrm>
            <a:off x="2651760" y="5522976"/>
            <a:ext cx="3840480" cy="365760"/>
          </a:xfrm>
          <a:prstGeom prst="rect">
            <a:avLst/>
          </a:prstGeom>
          <a:noFill/>
        </p:spPr>
        <p:txBody>
          <a:bodyPr wrap="square" lIns="18288" rIns="18288" tIns="18288" bIns="18288" anchor="t">
            <a:spAutoFit/>
          </a:bodyPr>
          <a:lstStyle/>
          <a:p>
            <a:pPr algn="l">
              <a:lnSpc>
                <a:spcPct val="110000"/>
              </a:lnSpc>
              <a:spcAft>
                <a:spcPts val="400"/>
              </a:spcAft>
            </a:pPr>
            <a:r>
              <a:rPr sz="1300" b="1" i="0">
                <a:solidFill>
                  <a:srgbClr val="FFFFFF"/>
                </a:solidFill>
                <a:latin typeface="Arial"/>
              </a:rPr>
              <a:t>________</a:t>
            </a:r>
          </a:p>
        </p:txBody>
      </p:sp>
      <p:pic>
        <p:nvPicPr>
          <p:cNvPr id="21" name="Picture 20" descr="01-plan.png"/>
          <p:cNvPicPr>
            <a:picLocks noChangeAspect="1"/>
          </p:cNvPicPr>
          <p:nvPr/>
        </p:nvPicPr>
        <p:blipFill>
          <a:blip r:embed="rId2"/>
          <a:srcRect/>
          <a:stretch>
            <a:fillRect/>
          </a:stretch>
        </p:blipFill>
        <p:spPr>
          <a:xfrm>
            <a:off x="6720840" y="685800"/>
            <a:ext cx="5074920" cy="3044951"/>
          </a:xfrm>
          <a:prstGeom prst="rect">
            <a:avLst/>
          </a:prstGeom>
          <a:ln w="9525">
            <a:solidFill>
              <a:srgbClr val="4A4944"/>
            </a:solidFill>
          </a:ln>
        </p:spPr>
      </p:pic>
      <p:sp>
        <p:nvSpPr>
          <p:cNvPr id="22" name="TextBox 21"/>
          <p:cNvSpPr txBox="1"/>
          <p:nvPr/>
        </p:nvSpPr>
        <p:spPr>
          <a:xfrm>
            <a:off x="6720840" y="3776470"/>
            <a:ext cx="5120640" cy="274320"/>
          </a:xfrm>
          <a:prstGeom prst="rect">
            <a:avLst/>
          </a:prstGeom>
          <a:noFill/>
        </p:spPr>
        <p:txBody>
          <a:bodyPr wrap="square" lIns="18288" rIns="18288" tIns="18288" bIns="18288" anchor="t">
            <a:spAutoFit/>
          </a:bodyPr>
          <a:lstStyle/>
          <a:p>
            <a:pPr algn="l">
              <a:lnSpc>
                <a:spcPct val="110000"/>
              </a:lnSpc>
              <a:spcAft>
                <a:spcPts val="400"/>
              </a:spcAft>
            </a:pPr>
            <a:r>
              <a:rPr sz="1000" b="0" i="0">
                <a:solidFill>
                  <a:srgbClr val="898781"/>
                </a:solidFill>
                <a:latin typeface="Arial"/>
              </a:rPr>
              <a:t>Working prototype: common operational picture, synchronisation matrix and KPIs for a 31-mission day.</a:t>
            </a:r>
          </a:p>
        </p:txBody>
      </p:sp>
      <p:sp>
        <p:nvSpPr>
          <p:cNvPr id="23" name="Rounded Rectangle 22"/>
          <p:cNvSpPr/>
          <p:nvPr/>
        </p:nvSpPr>
        <p:spPr>
          <a:xfrm>
            <a:off x="6720840" y="4206240"/>
            <a:ext cx="5074920" cy="2011680"/>
          </a:xfrm>
          <a:prstGeom prst="roundRect">
            <a:avLst>
              <a:gd name="adj" fmla="val 8000"/>
            </a:avLst>
          </a:prstGeom>
          <a:solidFill>
            <a:srgbClr val="1E1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03720" y="4297680"/>
            <a:ext cx="4754880" cy="274320"/>
          </a:xfrm>
          <a:prstGeom prst="rect">
            <a:avLst/>
          </a:prstGeom>
          <a:noFill/>
        </p:spPr>
        <p:txBody>
          <a:bodyPr wrap="square" lIns="18288" rIns="18288" tIns="18288" bIns="18288" anchor="t">
            <a:spAutoFit/>
          </a:bodyPr>
          <a:lstStyle/>
          <a:p>
            <a:pPr algn="l">
              <a:lnSpc>
                <a:spcPct val="110000"/>
              </a:lnSpc>
              <a:spcAft>
                <a:spcPts val="400"/>
              </a:spcAft>
            </a:pPr>
            <a:r>
              <a:rPr sz="1100" b="1" i="0">
                <a:solidFill>
                  <a:srgbClr val="898781"/>
                </a:solidFill>
                <a:latin typeface="Arial"/>
              </a:rPr>
              <a:t>MEASURED ON THE PROTOTYPE</a:t>
            </a:r>
          </a:p>
        </p:txBody>
      </p:sp>
      <p:sp>
        <p:nvSpPr>
          <p:cNvPr id="25" name="TextBox 24"/>
          <p:cNvSpPr txBox="1"/>
          <p:nvPr/>
        </p:nvSpPr>
        <p:spPr>
          <a:xfrm>
            <a:off x="6903720" y="4617720"/>
            <a:ext cx="1463040" cy="457200"/>
          </a:xfrm>
          <a:prstGeom prst="rect">
            <a:avLst/>
          </a:prstGeom>
          <a:noFill/>
        </p:spPr>
        <p:txBody>
          <a:bodyPr wrap="square" lIns="18288" rIns="18288" tIns="18288" bIns="18288" anchor="t">
            <a:spAutoFit/>
          </a:bodyPr>
          <a:lstStyle/>
          <a:p>
            <a:pPr algn="l">
              <a:lnSpc>
                <a:spcPct val="110000"/>
              </a:lnSpc>
              <a:spcAft>
                <a:spcPts val="400"/>
              </a:spcAft>
            </a:pPr>
            <a:r>
              <a:rPr sz="2200" b="1" i="0">
                <a:solidFill>
                  <a:srgbClr val="FFFFFF"/>
                </a:solidFill>
                <a:latin typeface="Arial"/>
              </a:rPr>
              <a:t>+12.4 pts</a:t>
            </a:r>
          </a:p>
        </p:txBody>
      </p:sp>
      <p:sp>
        <p:nvSpPr>
          <p:cNvPr id="26" name="TextBox 25"/>
          <p:cNvSpPr txBox="1"/>
          <p:nvPr/>
        </p:nvSpPr>
        <p:spPr>
          <a:xfrm>
            <a:off x="8412480" y="4690872"/>
            <a:ext cx="3291840" cy="457200"/>
          </a:xfrm>
          <a:prstGeom prst="rect">
            <a:avLst/>
          </a:prstGeom>
          <a:noFill/>
        </p:spPr>
        <p:txBody>
          <a:bodyPr wrap="square" lIns="18288" rIns="18288" tIns="18288" bIns="18288" anchor="t">
            <a:spAutoFit/>
          </a:bodyPr>
          <a:lstStyle/>
          <a:p>
            <a:pPr algn="l">
              <a:lnSpc>
                <a:spcPct val="110000"/>
              </a:lnSpc>
              <a:spcAft>
                <a:spcPts val="400"/>
              </a:spcAft>
            </a:pPr>
            <a:r>
              <a:rPr sz="1200" b="0" i="0">
                <a:solidFill>
                  <a:srgbClr val="C3C2B7"/>
                </a:solidFill>
                <a:latin typeface="Arial"/>
              </a:rPr>
              <a:t>mission fulfilment vs a manual-style plan</a:t>
            </a:r>
          </a:p>
        </p:txBody>
      </p:sp>
      <p:sp>
        <p:nvSpPr>
          <p:cNvPr id="27" name="TextBox 26"/>
          <p:cNvSpPr txBox="1"/>
          <p:nvPr/>
        </p:nvSpPr>
        <p:spPr>
          <a:xfrm>
            <a:off x="6903720" y="5120640"/>
            <a:ext cx="1463040" cy="457200"/>
          </a:xfrm>
          <a:prstGeom prst="rect">
            <a:avLst/>
          </a:prstGeom>
          <a:noFill/>
        </p:spPr>
        <p:txBody>
          <a:bodyPr wrap="square" lIns="18288" rIns="18288" tIns="18288" bIns="18288" anchor="t">
            <a:spAutoFit/>
          </a:bodyPr>
          <a:lstStyle/>
          <a:p>
            <a:pPr algn="l">
              <a:lnSpc>
                <a:spcPct val="110000"/>
              </a:lnSpc>
              <a:spcAft>
                <a:spcPts val="400"/>
              </a:spcAft>
            </a:pPr>
            <a:r>
              <a:rPr sz="2200" b="1" i="0">
                <a:solidFill>
                  <a:srgbClr val="FFFFFF"/>
                </a:solidFill>
                <a:latin typeface="Arial"/>
              </a:rPr>
              <a:t>−66%</a:t>
            </a:r>
          </a:p>
        </p:txBody>
      </p:sp>
      <p:sp>
        <p:nvSpPr>
          <p:cNvPr id="28" name="TextBox 27"/>
          <p:cNvSpPr txBox="1"/>
          <p:nvPr/>
        </p:nvSpPr>
        <p:spPr>
          <a:xfrm>
            <a:off x="8412480" y="5193792"/>
            <a:ext cx="3291840" cy="457200"/>
          </a:xfrm>
          <a:prstGeom prst="rect">
            <a:avLst/>
          </a:prstGeom>
          <a:noFill/>
        </p:spPr>
        <p:txBody>
          <a:bodyPr wrap="square" lIns="18288" rIns="18288" tIns="18288" bIns="18288" anchor="t">
            <a:spAutoFit/>
          </a:bodyPr>
          <a:lstStyle/>
          <a:p>
            <a:pPr algn="l">
              <a:lnSpc>
                <a:spcPct val="110000"/>
              </a:lnSpc>
              <a:spcAft>
                <a:spcPts val="400"/>
              </a:spcAft>
            </a:pPr>
            <a:r>
              <a:rPr sz="1200" b="0" i="0">
                <a:solidFill>
                  <a:srgbClr val="C3C2B7"/>
                </a:solidFill>
                <a:latin typeface="Arial"/>
              </a:rPr>
              <a:t>aircraft reassigned on a retask vs re-planning from scratch</a:t>
            </a:r>
          </a:p>
        </p:txBody>
      </p:sp>
      <p:sp>
        <p:nvSpPr>
          <p:cNvPr id="29" name="TextBox 28"/>
          <p:cNvSpPr txBox="1"/>
          <p:nvPr/>
        </p:nvSpPr>
        <p:spPr>
          <a:xfrm>
            <a:off x="6903720" y="5623559"/>
            <a:ext cx="1463040" cy="457200"/>
          </a:xfrm>
          <a:prstGeom prst="rect">
            <a:avLst/>
          </a:prstGeom>
          <a:noFill/>
        </p:spPr>
        <p:txBody>
          <a:bodyPr wrap="square" lIns="18288" rIns="18288" tIns="18288" bIns="18288" anchor="t">
            <a:spAutoFit/>
          </a:bodyPr>
          <a:lstStyle/>
          <a:p>
            <a:pPr algn="l">
              <a:lnSpc>
                <a:spcPct val="110000"/>
              </a:lnSpc>
              <a:spcAft>
                <a:spcPts val="400"/>
              </a:spcAft>
            </a:pPr>
            <a:r>
              <a:rPr sz="2200" b="1" i="0">
                <a:solidFill>
                  <a:srgbClr val="FFFFFF"/>
                </a:solidFill>
                <a:latin typeface="Arial"/>
              </a:rPr>
              <a:t>70%</a:t>
            </a:r>
          </a:p>
        </p:txBody>
      </p:sp>
      <p:sp>
        <p:nvSpPr>
          <p:cNvPr id="30" name="TextBox 29"/>
          <p:cNvSpPr txBox="1"/>
          <p:nvPr/>
        </p:nvSpPr>
        <p:spPr>
          <a:xfrm>
            <a:off x="8412480" y="5696712"/>
            <a:ext cx="3291840" cy="457200"/>
          </a:xfrm>
          <a:prstGeom prst="rect">
            <a:avLst/>
          </a:prstGeom>
          <a:noFill/>
        </p:spPr>
        <p:txBody>
          <a:bodyPr wrap="square" lIns="18288" rIns="18288" tIns="18288" bIns="18288" anchor="t">
            <a:spAutoFit/>
          </a:bodyPr>
          <a:lstStyle/>
          <a:p>
            <a:pPr algn="l">
              <a:lnSpc>
                <a:spcPct val="110000"/>
              </a:lnSpc>
              <a:spcAft>
                <a:spcPts val="400"/>
              </a:spcAft>
            </a:pPr>
            <a:r>
              <a:rPr sz="1200" b="0" i="0">
                <a:solidFill>
                  <a:srgbClr val="C3C2B7"/>
                </a:solidFill>
                <a:latin typeface="Arial"/>
              </a:rPr>
              <a:t>of fog hours forecast (raw weather model: 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1211"/>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1E6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0" y="0"/>
            <a:ext cx="12191695" cy="201168"/>
          </a:xfrm>
          <a:prstGeom prst="rect">
            <a:avLst/>
          </a:prstGeom>
          <a:noFill/>
        </p:spPr>
        <p:txBody>
          <a:bodyPr wrap="square" lIns="18288" rIns="18288" tIns="18288" bIns="18288" anchor="ctr">
            <a:spAutoFit/>
          </a:bodyPr>
          <a:lstStyle/>
          <a:p>
            <a:pPr algn="ctr">
              <a:lnSpc>
                <a:spcPct val="110000"/>
              </a:lnSpc>
              <a:spcAft>
                <a:spcPts val="400"/>
              </a:spcAft>
            </a:pPr>
            <a:r>
              <a:rPr sz="900" b="1" i="0">
                <a:solidFill>
                  <a:srgbClr val="FFFFFF"/>
                </a:solidFill>
                <a:latin typeface="Arial"/>
              </a:rPr>
              <a:t>UNCLASSIFIED // EXERCISE · NOTIONAL DATA</a:t>
            </a:r>
          </a:p>
        </p:txBody>
      </p:sp>
      <p:sp>
        <p:nvSpPr>
          <p:cNvPr id="4" name="TextBox 3"/>
          <p:cNvSpPr txBox="1"/>
          <p:nvPr/>
        </p:nvSpPr>
        <p:spPr>
          <a:xfrm>
            <a:off x="457200" y="329184"/>
            <a:ext cx="8229600" cy="274320"/>
          </a:xfrm>
          <a:prstGeom prst="rect">
            <a:avLst/>
          </a:prstGeom>
          <a:noFill/>
        </p:spPr>
        <p:txBody>
          <a:bodyPr wrap="square" lIns="18288" rIns="18288" tIns="18288" bIns="18288" anchor="t">
            <a:spAutoFit/>
          </a:bodyPr>
          <a:lstStyle/>
          <a:p>
            <a:pPr algn="l">
              <a:lnSpc>
                <a:spcPct val="110000"/>
              </a:lnSpc>
              <a:spcAft>
                <a:spcPts val="400"/>
              </a:spcAft>
            </a:pPr>
            <a:r>
              <a:rPr sz="1100" b="1" i="0">
                <a:solidFill>
                  <a:srgbClr val="86B6EF"/>
                </a:solidFill>
                <a:latin typeface="Arial"/>
              </a:rPr>
              <a:t>PROPOSED SOLUTION</a:t>
            </a:r>
          </a:p>
        </p:txBody>
      </p:sp>
      <p:sp>
        <p:nvSpPr>
          <p:cNvPr id="5" name="TextBox 4"/>
          <p:cNvSpPr txBox="1"/>
          <p:nvPr/>
        </p:nvSpPr>
        <p:spPr>
          <a:xfrm>
            <a:off x="457200" y="566928"/>
            <a:ext cx="11247120" cy="548640"/>
          </a:xfrm>
          <a:prstGeom prst="rect">
            <a:avLst/>
          </a:prstGeom>
          <a:noFill/>
        </p:spPr>
        <p:txBody>
          <a:bodyPr wrap="square" lIns="18288" rIns="18288" tIns="18288" bIns="18288" anchor="t">
            <a:spAutoFit/>
          </a:bodyPr>
          <a:lstStyle/>
          <a:p>
            <a:pPr algn="l">
              <a:lnSpc>
                <a:spcPct val="110000"/>
              </a:lnSpc>
              <a:spcAft>
                <a:spcPts val="400"/>
              </a:spcAft>
            </a:pPr>
            <a:r>
              <a:rPr sz="2600" b="1" i="0">
                <a:solidFill>
                  <a:srgbClr val="FFFFFF"/>
                </a:solidFill>
                <a:latin typeface="Arial"/>
              </a:rPr>
              <a:t>Plan, predict, re-plan in seconds, and explain every change</a:t>
            </a:r>
          </a:p>
        </p:txBody>
      </p:sp>
      <p:sp>
        <p:nvSpPr>
          <p:cNvPr id="6" name="TextBox 5"/>
          <p:cNvSpPr txBox="1"/>
          <p:nvPr/>
        </p:nvSpPr>
        <p:spPr>
          <a:xfrm>
            <a:off x="457200" y="6492240"/>
            <a:ext cx="7315200" cy="274320"/>
          </a:xfrm>
          <a:prstGeom prst="rect">
            <a:avLst/>
          </a:prstGeom>
          <a:noFill/>
        </p:spPr>
        <p:txBody>
          <a:bodyPr wrap="square" lIns="18288" rIns="18288" tIns="18288" bIns="18288" anchor="t">
            <a:spAutoFit/>
          </a:bodyPr>
          <a:lstStyle/>
          <a:p>
            <a:pPr algn="l">
              <a:lnSpc>
                <a:spcPct val="110000"/>
              </a:lnSpc>
              <a:spcAft>
                <a:spcPts val="400"/>
              </a:spcAft>
            </a:pPr>
            <a:r>
              <a:rPr sz="900" b="0" i="0">
                <a:solidFill>
                  <a:srgbClr val="898781"/>
                </a:solidFill>
                <a:latin typeface="Arial"/>
              </a:rPr>
              <a:t>VAYU-SARTHI · SIH 2026 · PS 26250</a:t>
            </a:r>
          </a:p>
        </p:txBody>
      </p:sp>
      <p:sp>
        <p:nvSpPr>
          <p:cNvPr id="7" name="TextBox 6"/>
          <p:cNvSpPr txBox="1"/>
          <p:nvPr/>
        </p:nvSpPr>
        <p:spPr>
          <a:xfrm>
            <a:off x="457200" y="1234440"/>
            <a:ext cx="6217920" cy="274320"/>
          </a:xfrm>
          <a:prstGeom prst="rect">
            <a:avLst/>
          </a:prstGeom>
          <a:noFill/>
        </p:spPr>
        <p:txBody>
          <a:bodyPr wrap="square" lIns="18288" rIns="18288" tIns="18288" bIns="18288" anchor="t">
            <a:spAutoFit/>
          </a:bodyPr>
          <a:lstStyle/>
          <a:p>
            <a:pPr algn="l">
              <a:lnSpc>
                <a:spcPct val="110000"/>
              </a:lnSpc>
              <a:spcAft>
                <a:spcPts val="400"/>
              </a:spcAft>
            </a:pPr>
            <a:r>
              <a:rPr sz="1100" b="1" i="0">
                <a:solidFill>
                  <a:srgbClr val="898781"/>
                </a:solidFill>
                <a:latin typeface="Arial"/>
              </a:rPr>
              <a:t>WHAT IT IS</a:t>
            </a:r>
          </a:p>
        </p:txBody>
      </p:sp>
      <p:sp>
        <p:nvSpPr>
          <p:cNvPr id="8" name="TextBox 7"/>
          <p:cNvSpPr txBox="1"/>
          <p:nvPr/>
        </p:nvSpPr>
        <p:spPr>
          <a:xfrm>
            <a:off x="457200" y="1481328"/>
            <a:ext cx="6309360" cy="1097280"/>
          </a:xfrm>
          <a:prstGeom prst="rect">
            <a:avLst/>
          </a:prstGeom>
          <a:noFill/>
        </p:spPr>
        <p:txBody>
          <a:bodyPr wrap="square" lIns="18288" rIns="18288" tIns="18288" bIns="18288" anchor="t">
            <a:spAutoFit/>
          </a:bodyPr>
          <a:lstStyle/>
          <a:p>
            <a:pPr algn="l">
              <a:lnSpc>
                <a:spcPct val="110000"/>
              </a:lnSpc>
              <a:spcAft>
                <a:spcPts val="400"/>
              </a:spcAft>
            </a:pPr>
            <a:r>
              <a:rPr sz="1200" b="0" i="0">
                <a:solidFill>
                  <a:srgbClr val="C3C2B7"/>
                </a:solidFill>
                <a:latin typeface="Arial"/>
              </a:rPr>
              <a:t>A decision-support system for the air staff. It fuses aircraft, crews, weapons, tankers, weather, threats and airspace into one picture, and computes the best air tasking plan. When something changes it proposes the </a:t>
            </a:r>
            <a:r>
              <a:rPr sz="1200" b="1" i="0">
                <a:solidFill>
                  <a:srgbClr val="FFFFFF"/>
                </a:solidFill>
                <a:latin typeface="Arial"/>
              </a:rPr>
              <a:t>smallest set of changes</a:t>
            </a:r>
            <a:r>
              <a:rPr sz="1200" b="0" i="0">
                <a:solidFill>
                  <a:srgbClr val="C3C2B7"/>
                </a:solidFill>
                <a:latin typeface="Arial"/>
              </a:rPr>
              <a:t> that recovers the most mission value, as a reviewable diff. A human approves every change.</a:t>
            </a:r>
          </a:p>
        </p:txBody>
      </p:sp>
      <p:sp>
        <p:nvSpPr>
          <p:cNvPr id="9" name="TextBox 8"/>
          <p:cNvSpPr txBox="1"/>
          <p:nvPr/>
        </p:nvSpPr>
        <p:spPr>
          <a:xfrm>
            <a:off x="457200" y="2606040"/>
            <a:ext cx="6217920" cy="274320"/>
          </a:xfrm>
          <a:prstGeom prst="rect">
            <a:avLst/>
          </a:prstGeom>
          <a:noFill/>
        </p:spPr>
        <p:txBody>
          <a:bodyPr wrap="square" lIns="18288" rIns="18288" tIns="18288" bIns="18288" anchor="t">
            <a:spAutoFit/>
          </a:bodyPr>
          <a:lstStyle/>
          <a:p>
            <a:pPr algn="l">
              <a:lnSpc>
                <a:spcPct val="110000"/>
              </a:lnSpc>
              <a:spcAft>
                <a:spcPts val="400"/>
              </a:spcAft>
            </a:pPr>
            <a:r>
              <a:rPr sz="1100" b="1" i="0">
                <a:solidFill>
                  <a:srgbClr val="898781"/>
                </a:solidFill>
                <a:latin typeface="Arial"/>
              </a:rPr>
              <a:t>HOW IT ADDRESSES THE PROBLEM STATEMENT</a:t>
            </a:r>
          </a:p>
        </p:txBody>
      </p:sp>
      <p:sp>
        <p:nvSpPr>
          <p:cNvPr id="10" name="TextBox 9"/>
          <p:cNvSpPr txBox="1"/>
          <p:nvPr/>
        </p:nvSpPr>
        <p:spPr>
          <a:xfrm>
            <a:off x="457200" y="2862072"/>
            <a:ext cx="6309360" cy="2377440"/>
          </a:xfrm>
          <a:prstGeom prst="rect">
            <a:avLst/>
          </a:prstGeom>
          <a:noFill/>
        </p:spPr>
        <p:txBody>
          <a:bodyPr wrap="square" lIns="18288" rIns="18288" tIns="18288" bIns="18288" anchor="t">
            <a:spAutoFit/>
          </a:bodyPr>
          <a:lstStyle/>
          <a:p>
            <a:pPr algn="l">
              <a:lnSpc>
                <a:spcPct val="110000"/>
              </a:lnSpc>
              <a:spcAft>
                <a:spcPts val="500"/>
              </a:spcAft>
            </a:pPr>
            <a:r>
              <a:rPr sz="1150" b="0" i="0">
                <a:solidFill>
                  <a:srgbClr val="3987E5"/>
                </a:solidFill>
                <a:latin typeface="Arial"/>
              </a:rPr>
              <a:t>▪  </a:t>
            </a:r>
            <a:r>
              <a:rPr sz="1150" b="1" i="0">
                <a:solidFill>
                  <a:srgbClr val="FFFFFF"/>
                </a:solidFill>
                <a:latin typeface="Arial"/>
              </a:rPr>
              <a:t>Dynamic retasking: </a:t>
            </a:r>
            <a:r>
              <a:rPr sz="1150" b="0" i="0">
                <a:solidFill>
                  <a:srgbClr val="C3C2B7"/>
                </a:solidFill>
                <a:latin typeface="Arial"/>
              </a:rPr>
              <a:t>churn-penalised re-optimisation; launched missions frozen; 12.8 vs 37.5 aircraft reassigned for a fogged base, in 1.7 s.</a:t>
            </a:r>
          </a:p>
          <a:p>
            <a:pPr algn="l">
              <a:lnSpc>
                <a:spcPct val="110000"/>
              </a:lnSpc>
              <a:spcAft>
                <a:spcPts val="500"/>
              </a:spcAft>
            </a:pPr>
            <a:r>
              <a:rPr sz="1150" b="0" i="0">
                <a:solidFill>
                  <a:srgbClr val="3987E5"/>
                </a:solidFill>
                <a:latin typeface="Arial"/>
              </a:rPr>
              <a:t>▪  </a:t>
            </a:r>
            <a:r>
              <a:rPr sz="1150" b="1" i="0">
                <a:solidFill>
                  <a:srgbClr val="FFFFFF"/>
                </a:solidFill>
                <a:latin typeface="Arial"/>
              </a:rPr>
              <a:t>Resource optimisation: </a:t>
            </a:r>
            <a:r>
              <a:rPr sz="1150" b="0" i="0">
                <a:solidFill>
                  <a:srgbClr val="C3C2B7"/>
                </a:solidFill>
                <a:latin typeface="Arial"/>
              </a:rPr>
              <a:t>one model across aircraft, crew fatigue, weapons, tankers, weather, threats and alert reserve.</a:t>
            </a:r>
          </a:p>
          <a:p>
            <a:pPr algn="l">
              <a:lnSpc>
                <a:spcPct val="110000"/>
              </a:lnSpc>
              <a:spcAft>
                <a:spcPts val="500"/>
              </a:spcAft>
            </a:pPr>
            <a:r>
              <a:rPr sz="1150" b="0" i="0">
                <a:solidFill>
                  <a:srgbClr val="3987E5"/>
                </a:solidFill>
                <a:latin typeface="Arial"/>
              </a:rPr>
              <a:t>▪  </a:t>
            </a:r>
            <a:r>
              <a:rPr sz="1150" b="1" i="0">
                <a:solidFill>
                  <a:srgbClr val="FFFFFF"/>
                </a:solidFill>
                <a:latin typeface="Arial"/>
              </a:rPr>
              <a:t>Weather: </a:t>
            </a:r>
            <a:r>
              <a:rPr sz="1150" b="0" i="0">
                <a:solidFill>
                  <a:srgbClr val="C3C2B7"/>
                </a:solidFill>
                <a:latin typeface="Arial"/>
              </a:rPr>
              <a:t>fog forecast trained on real airport observations (Brier skill +44%), turned into probabilistic base closures.</a:t>
            </a:r>
          </a:p>
          <a:p>
            <a:pPr algn="l">
              <a:lnSpc>
                <a:spcPct val="110000"/>
              </a:lnSpc>
              <a:spcAft>
                <a:spcPts val="500"/>
              </a:spcAft>
            </a:pPr>
            <a:r>
              <a:rPr sz="1150" b="0" i="0">
                <a:solidFill>
                  <a:srgbClr val="3987E5"/>
                </a:solidFill>
                <a:latin typeface="Arial"/>
              </a:rPr>
              <a:t>▪  </a:t>
            </a:r>
            <a:r>
              <a:rPr sz="1150" b="1" i="0">
                <a:solidFill>
                  <a:srgbClr val="FFFFFF"/>
                </a:solidFill>
                <a:latin typeface="Arial"/>
              </a:rPr>
              <a:t>Uncertainty: </a:t>
            </a:r>
            <a:r>
              <a:rPr sz="1150" b="0" i="0">
                <a:solidFill>
                  <a:srgbClr val="C3C2B7"/>
                </a:solidFill>
                <a:latin typeface="Arial"/>
              </a:rPr>
              <a:t>2,000 simulated days, single points of failure, ground spares from idle aircraft.</a:t>
            </a:r>
          </a:p>
          <a:p>
            <a:pPr algn="l">
              <a:lnSpc>
                <a:spcPct val="110000"/>
              </a:lnSpc>
              <a:spcAft>
                <a:spcPts val="500"/>
              </a:spcAft>
            </a:pPr>
            <a:r>
              <a:rPr sz="1150" b="0" i="0">
                <a:solidFill>
                  <a:srgbClr val="3987E5"/>
                </a:solidFill>
                <a:latin typeface="Arial"/>
              </a:rPr>
              <a:t>▪  </a:t>
            </a:r>
            <a:r>
              <a:rPr sz="1150" b="1" i="0">
                <a:solidFill>
                  <a:srgbClr val="FFFFFF"/>
                </a:solidFill>
                <a:latin typeface="Arial"/>
              </a:rPr>
              <a:t>Commander's intent: </a:t>
            </a:r>
            <a:r>
              <a:rPr sz="1150" b="0" i="0">
                <a:solidFill>
                  <a:srgbClr val="C3C2B7"/>
                </a:solidFill>
                <a:latin typeface="Arial"/>
              </a:rPr>
              <a:t>three courses of action side by side, each trade in one sentence.</a:t>
            </a:r>
          </a:p>
        </p:txBody>
      </p:sp>
      <p:sp>
        <p:nvSpPr>
          <p:cNvPr id="11" name="TextBox 10"/>
          <p:cNvSpPr txBox="1"/>
          <p:nvPr/>
        </p:nvSpPr>
        <p:spPr>
          <a:xfrm>
            <a:off x="457200" y="4983480"/>
            <a:ext cx="6217920" cy="274320"/>
          </a:xfrm>
          <a:prstGeom prst="rect">
            <a:avLst/>
          </a:prstGeom>
          <a:noFill/>
        </p:spPr>
        <p:txBody>
          <a:bodyPr wrap="square" lIns="18288" rIns="18288" tIns="18288" bIns="18288" anchor="t">
            <a:spAutoFit/>
          </a:bodyPr>
          <a:lstStyle/>
          <a:p>
            <a:pPr algn="l">
              <a:lnSpc>
                <a:spcPct val="110000"/>
              </a:lnSpc>
              <a:spcAft>
                <a:spcPts val="400"/>
              </a:spcAft>
            </a:pPr>
            <a:r>
              <a:rPr sz="1100" b="1" i="0">
                <a:solidFill>
                  <a:srgbClr val="898781"/>
                </a:solidFill>
                <a:latin typeface="Arial"/>
              </a:rPr>
              <a:t>INNOVATION AND UNIQUENESS</a:t>
            </a:r>
          </a:p>
        </p:txBody>
      </p:sp>
      <p:sp>
        <p:nvSpPr>
          <p:cNvPr id="12" name="TextBox 11"/>
          <p:cNvSpPr txBox="1"/>
          <p:nvPr/>
        </p:nvSpPr>
        <p:spPr>
          <a:xfrm>
            <a:off x="457200" y="5239512"/>
            <a:ext cx="6309360" cy="1051560"/>
          </a:xfrm>
          <a:prstGeom prst="rect">
            <a:avLst/>
          </a:prstGeom>
          <a:noFill/>
        </p:spPr>
        <p:txBody>
          <a:bodyPr wrap="square" lIns="18288" rIns="18288" tIns="18288" bIns="18288" anchor="t">
            <a:spAutoFit/>
          </a:bodyPr>
          <a:lstStyle/>
          <a:p>
            <a:pPr algn="l">
              <a:lnSpc>
                <a:spcPct val="110000"/>
              </a:lnSpc>
              <a:spcAft>
                <a:spcPts val="300"/>
              </a:spcAft>
            </a:pPr>
            <a:r>
              <a:rPr sz="1150" b="0" i="0">
                <a:solidFill>
                  <a:srgbClr val="3987E5"/>
                </a:solidFill>
                <a:latin typeface="Arial"/>
              </a:rPr>
              <a:t>▪  </a:t>
            </a:r>
            <a:r>
              <a:rPr sz="1150" b="0" i="0">
                <a:solidFill>
                  <a:srgbClr val="C3C2B7"/>
                </a:solidFill>
                <a:latin typeface="Arial"/>
              </a:rPr>
              <a:t>A minimal-disruption diff, not a fresh plan · one integrated optimiser, not seven silos</a:t>
            </a:r>
          </a:p>
          <a:p>
            <a:pPr algn="l">
              <a:lnSpc>
                <a:spcPct val="110000"/>
              </a:lnSpc>
              <a:spcAft>
                <a:spcPts val="300"/>
              </a:spcAft>
            </a:pPr>
            <a:r>
              <a:rPr sz="1150" b="0" i="0">
                <a:solidFill>
                  <a:srgbClr val="3987E5"/>
                </a:solidFill>
                <a:latin typeface="Arial"/>
              </a:rPr>
              <a:t>▪  </a:t>
            </a:r>
            <a:r>
              <a:rPr sz="1150" b="0" i="0">
                <a:solidFill>
                  <a:srgbClr val="C3C2B7"/>
                </a:solidFill>
                <a:latin typeface="Arial"/>
              </a:rPr>
              <a:t>Why not, and what it would take, for every unplanned mission · intel-age-aware routing · COAs</a:t>
            </a:r>
          </a:p>
          <a:p>
            <a:pPr algn="l">
              <a:lnSpc>
                <a:spcPct val="110000"/>
              </a:lnSpc>
              <a:spcAft>
                <a:spcPts val="300"/>
              </a:spcAft>
            </a:pPr>
            <a:r>
              <a:rPr sz="1150" b="0" i="0">
                <a:solidFill>
                  <a:srgbClr val="3987E5"/>
                </a:solidFill>
                <a:latin typeface="Arial"/>
              </a:rPr>
              <a:t>▪  </a:t>
            </a:r>
            <a:r>
              <a:rPr sz="1150" b="0" i="0">
                <a:solidFill>
                  <a:srgbClr val="C3C2B7"/>
                </a:solidFill>
                <a:latin typeface="Arial"/>
              </a:rPr>
              <a:t>Air-gapped and indigenous · the same engine plans flood relief (HADR)</a:t>
            </a:r>
          </a:p>
        </p:txBody>
      </p:sp>
      <p:pic>
        <p:nvPicPr>
          <p:cNvPr id="13" name="Picture 12" descr="04-fog-proposal.png"/>
          <p:cNvPicPr>
            <a:picLocks noChangeAspect="1"/>
          </p:cNvPicPr>
          <p:nvPr/>
        </p:nvPicPr>
        <p:blipFill>
          <a:blip r:embed="rId2"/>
          <a:srcRect/>
          <a:stretch>
            <a:fillRect/>
          </a:stretch>
        </p:blipFill>
        <p:spPr>
          <a:xfrm>
            <a:off x="7086600" y="1280160"/>
            <a:ext cx="4617720" cy="2770632"/>
          </a:xfrm>
          <a:prstGeom prst="rect">
            <a:avLst/>
          </a:prstGeom>
          <a:ln w="9525">
            <a:solidFill>
              <a:srgbClr val="4A4944"/>
            </a:solidFill>
          </a:ln>
        </p:spPr>
      </p:pic>
      <p:sp>
        <p:nvSpPr>
          <p:cNvPr id="14" name="TextBox 13"/>
          <p:cNvSpPr txBox="1"/>
          <p:nvPr/>
        </p:nvSpPr>
        <p:spPr>
          <a:xfrm>
            <a:off x="7086600" y="4087368"/>
            <a:ext cx="4617720" cy="274320"/>
          </a:xfrm>
          <a:prstGeom prst="rect">
            <a:avLst/>
          </a:prstGeom>
          <a:noFill/>
        </p:spPr>
        <p:txBody>
          <a:bodyPr wrap="square" lIns="18288" rIns="18288" tIns="18288" bIns="18288" anchor="t">
            <a:spAutoFit/>
          </a:bodyPr>
          <a:lstStyle/>
          <a:p>
            <a:pPr algn="l">
              <a:lnSpc>
                <a:spcPct val="110000"/>
              </a:lnSpc>
              <a:spcAft>
                <a:spcPts val="400"/>
              </a:spcAft>
            </a:pPr>
            <a:r>
              <a:rPr sz="1000" b="0" i="0">
                <a:solidFill>
                  <a:srgbClr val="898781"/>
                </a:solidFill>
                <a:latin typeface="Arial"/>
              </a:rPr>
              <a:t>Fog forecast → proposed retask: diff, naive re-plan comparison, KPI deltas, approve / reject.</a:t>
            </a:r>
          </a:p>
        </p:txBody>
      </p:sp>
      <p:pic>
        <p:nvPicPr>
          <p:cNvPr id="15" name="Picture 14" descr="02b-coa-compare.png"/>
          <p:cNvPicPr>
            <a:picLocks noChangeAspect="1"/>
          </p:cNvPicPr>
          <p:nvPr/>
        </p:nvPicPr>
        <p:blipFill>
          <a:blip r:embed="rId3"/>
          <a:srcRect l="15000" t="7000" r="15000" b="45000"/>
          <a:stretch>
            <a:fillRect/>
          </a:stretch>
        </p:blipFill>
        <p:spPr>
          <a:xfrm>
            <a:off x="7086600" y="4434840"/>
            <a:ext cx="4617720" cy="1899861"/>
          </a:xfrm>
          <a:prstGeom prst="rect">
            <a:avLst/>
          </a:prstGeom>
          <a:ln w="9525">
            <a:solidFill>
              <a:srgbClr val="4A4944"/>
            </a:solidFill>
          </a:ln>
        </p:spPr>
      </p:pic>
      <p:sp>
        <p:nvSpPr>
          <p:cNvPr id="16" name="TextBox 15"/>
          <p:cNvSpPr txBox="1"/>
          <p:nvPr/>
        </p:nvSpPr>
        <p:spPr>
          <a:xfrm>
            <a:off x="7086600" y="6371277"/>
            <a:ext cx="4617720" cy="274320"/>
          </a:xfrm>
          <a:prstGeom prst="rect">
            <a:avLst/>
          </a:prstGeom>
          <a:noFill/>
        </p:spPr>
        <p:txBody>
          <a:bodyPr wrap="square" lIns="18288" rIns="18288" tIns="18288" bIns="18288" anchor="t">
            <a:spAutoFit/>
          </a:bodyPr>
          <a:lstStyle/>
          <a:p>
            <a:pPr algn="l">
              <a:lnSpc>
                <a:spcPct val="110000"/>
              </a:lnSpc>
              <a:spcAft>
                <a:spcPts val="400"/>
              </a:spcAft>
            </a:pPr>
            <a:r>
              <a:rPr sz="1000" b="0" i="0">
                <a:solidFill>
                  <a:srgbClr val="898781"/>
                </a:solidFill>
                <a:latin typeface="Arial"/>
              </a:rPr>
              <a:t>Courses of action: one situation, three intents, each trade in one line.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21211"/>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1E6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0" y="0"/>
            <a:ext cx="12191695" cy="201168"/>
          </a:xfrm>
          <a:prstGeom prst="rect">
            <a:avLst/>
          </a:prstGeom>
          <a:noFill/>
        </p:spPr>
        <p:txBody>
          <a:bodyPr wrap="square" lIns="18288" rIns="18288" tIns="18288" bIns="18288" anchor="ctr">
            <a:spAutoFit/>
          </a:bodyPr>
          <a:lstStyle/>
          <a:p>
            <a:pPr algn="ctr">
              <a:lnSpc>
                <a:spcPct val="110000"/>
              </a:lnSpc>
              <a:spcAft>
                <a:spcPts val="400"/>
              </a:spcAft>
            </a:pPr>
            <a:r>
              <a:rPr sz="900" b="1" i="0">
                <a:solidFill>
                  <a:srgbClr val="FFFFFF"/>
                </a:solidFill>
                <a:latin typeface="Arial"/>
              </a:rPr>
              <a:t>UNCLASSIFIED // EXERCISE · NOTIONAL DATA</a:t>
            </a:r>
          </a:p>
        </p:txBody>
      </p:sp>
      <p:sp>
        <p:nvSpPr>
          <p:cNvPr id="4" name="TextBox 3"/>
          <p:cNvSpPr txBox="1"/>
          <p:nvPr/>
        </p:nvSpPr>
        <p:spPr>
          <a:xfrm>
            <a:off x="457200" y="329184"/>
            <a:ext cx="8229600" cy="274320"/>
          </a:xfrm>
          <a:prstGeom prst="rect">
            <a:avLst/>
          </a:prstGeom>
          <a:noFill/>
        </p:spPr>
        <p:txBody>
          <a:bodyPr wrap="square" lIns="18288" rIns="18288" tIns="18288" bIns="18288" anchor="t">
            <a:spAutoFit/>
          </a:bodyPr>
          <a:lstStyle/>
          <a:p>
            <a:pPr algn="l">
              <a:lnSpc>
                <a:spcPct val="110000"/>
              </a:lnSpc>
              <a:spcAft>
                <a:spcPts val="400"/>
              </a:spcAft>
            </a:pPr>
            <a:r>
              <a:rPr sz="1100" b="1" i="0">
                <a:solidFill>
                  <a:srgbClr val="86B6EF"/>
                </a:solidFill>
                <a:latin typeface="Arial"/>
              </a:rPr>
              <a:t>TECHNICAL APPROACH</a:t>
            </a:r>
          </a:p>
        </p:txBody>
      </p:sp>
      <p:sp>
        <p:nvSpPr>
          <p:cNvPr id="5" name="TextBox 4"/>
          <p:cNvSpPr txBox="1"/>
          <p:nvPr/>
        </p:nvSpPr>
        <p:spPr>
          <a:xfrm>
            <a:off x="457200" y="566928"/>
            <a:ext cx="11247120" cy="548640"/>
          </a:xfrm>
          <a:prstGeom prst="rect">
            <a:avLst/>
          </a:prstGeom>
          <a:noFill/>
        </p:spPr>
        <p:txBody>
          <a:bodyPr wrap="square" lIns="18288" rIns="18288" tIns="18288" bIns="18288" anchor="t">
            <a:spAutoFit/>
          </a:bodyPr>
          <a:lstStyle/>
          <a:p>
            <a:pPr algn="l">
              <a:lnSpc>
                <a:spcPct val="110000"/>
              </a:lnSpc>
              <a:spcAft>
                <a:spcPts val="400"/>
              </a:spcAft>
            </a:pPr>
            <a:r>
              <a:rPr sz="2600" b="1" i="0">
                <a:solidFill>
                  <a:srgbClr val="FFFFFF"/>
                </a:solidFill>
                <a:latin typeface="Arial"/>
              </a:rPr>
              <a:t>Technical approach: an optimiser with a dashboard on top</a:t>
            </a:r>
          </a:p>
        </p:txBody>
      </p:sp>
      <p:sp>
        <p:nvSpPr>
          <p:cNvPr id="6" name="TextBox 5"/>
          <p:cNvSpPr txBox="1"/>
          <p:nvPr/>
        </p:nvSpPr>
        <p:spPr>
          <a:xfrm>
            <a:off x="457200" y="6492240"/>
            <a:ext cx="7315200" cy="274320"/>
          </a:xfrm>
          <a:prstGeom prst="rect">
            <a:avLst/>
          </a:prstGeom>
          <a:noFill/>
        </p:spPr>
        <p:txBody>
          <a:bodyPr wrap="square" lIns="18288" rIns="18288" tIns="18288" bIns="18288" anchor="t">
            <a:spAutoFit/>
          </a:bodyPr>
          <a:lstStyle/>
          <a:p>
            <a:pPr algn="l">
              <a:lnSpc>
                <a:spcPct val="110000"/>
              </a:lnSpc>
              <a:spcAft>
                <a:spcPts val="400"/>
              </a:spcAft>
            </a:pPr>
            <a:r>
              <a:rPr sz="900" b="0" i="0">
                <a:solidFill>
                  <a:srgbClr val="898781"/>
                </a:solidFill>
                <a:latin typeface="Arial"/>
              </a:rPr>
              <a:t>VAYU-SARTHI · SIH 2026 · PS 26250</a:t>
            </a:r>
          </a:p>
        </p:txBody>
      </p:sp>
      <p:sp>
        <p:nvSpPr>
          <p:cNvPr id="7" name="Rounded Rectangle 6"/>
          <p:cNvSpPr/>
          <p:nvPr/>
        </p:nvSpPr>
        <p:spPr>
          <a:xfrm>
            <a:off x="457200" y="1325880"/>
            <a:ext cx="1783080" cy="1463040"/>
          </a:xfrm>
          <a:prstGeom prst="roundRect">
            <a:avLst>
              <a:gd name="adj" fmla="val 8000"/>
            </a:avLst>
          </a:prstGeom>
          <a:solidFill>
            <a:srgbClr val="2A2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389888"/>
            <a:ext cx="1600200" cy="274320"/>
          </a:xfrm>
          <a:prstGeom prst="rect">
            <a:avLst/>
          </a:prstGeom>
          <a:noFill/>
        </p:spPr>
        <p:txBody>
          <a:bodyPr wrap="square" lIns="18288" rIns="18288" tIns="18288" bIns="18288" anchor="t">
            <a:spAutoFit/>
          </a:bodyPr>
          <a:lstStyle/>
          <a:p>
            <a:pPr algn="l">
              <a:lnSpc>
                <a:spcPct val="110000"/>
              </a:lnSpc>
              <a:spcAft>
                <a:spcPts val="400"/>
              </a:spcAft>
            </a:pPr>
            <a:r>
              <a:rPr sz="1000" b="1" i="0">
                <a:solidFill>
                  <a:srgbClr val="86B6EF"/>
                </a:solidFill>
                <a:latin typeface="Arial"/>
              </a:rPr>
              <a:t>OBSERVE</a:t>
            </a:r>
          </a:p>
        </p:txBody>
      </p:sp>
      <p:sp>
        <p:nvSpPr>
          <p:cNvPr id="9" name="TextBox 8"/>
          <p:cNvSpPr txBox="1"/>
          <p:nvPr/>
        </p:nvSpPr>
        <p:spPr>
          <a:xfrm>
            <a:off x="566928" y="1627632"/>
            <a:ext cx="1600200" cy="320040"/>
          </a:xfrm>
          <a:prstGeom prst="rect">
            <a:avLst/>
          </a:prstGeom>
          <a:noFill/>
        </p:spPr>
        <p:txBody>
          <a:bodyPr wrap="square" lIns="18288" rIns="18288" tIns="18288" bIns="18288" anchor="t">
            <a:spAutoFit/>
          </a:bodyPr>
          <a:lstStyle/>
          <a:p>
            <a:pPr algn="l">
              <a:lnSpc>
                <a:spcPct val="110000"/>
              </a:lnSpc>
              <a:spcAft>
                <a:spcPts val="400"/>
              </a:spcAft>
            </a:pPr>
            <a:r>
              <a:rPr sz="1400" b="1" i="0">
                <a:solidFill>
                  <a:srgbClr val="FFFFFF"/>
                </a:solidFill>
                <a:latin typeface="Arial"/>
              </a:rPr>
              <a:t>Data adapters</a:t>
            </a:r>
          </a:p>
        </p:txBody>
      </p:sp>
      <p:sp>
        <p:nvSpPr>
          <p:cNvPr id="10" name="TextBox 9"/>
          <p:cNvSpPr txBox="1"/>
          <p:nvPr/>
        </p:nvSpPr>
        <p:spPr>
          <a:xfrm>
            <a:off x="566928" y="1965960"/>
            <a:ext cx="1581912" cy="822960"/>
          </a:xfrm>
          <a:prstGeom prst="rect">
            <a:avLst/>
          </a:prstGeom>
          <a:noFill/>
        </p:spPr>
        <p:txBody>
          <a:bodyPr wrap="square" lIns="18288" rIns="18288" tIns="18288" bIns="18288" anchor="t">
            <a:spAutoFit/>
          </a:bodyPr>
          <a:lstStyle/>
          <a:p>
            <a:pPr algn="l">
              <a:lnSpc>
                <a:spcPct val="105000"/>
              </a:lnSpc>
              <a:spcAft>
                <a:spcPts val="400"/>
              </a:spcAft>
            </a:pPr>
            <a:r>
              <a:rPr sz="1050" b="0" i="0">
                <a:solidFill>
                  <a:srgbClr val="C3C2B7"/>
                </a:solidFill>
                <a:latin typeface="Arial"/>
              </a:rPr>
              <a:t>aircraft · crews · stocks · met · intel · airspace</a:t>
            </a:r>
          </a:p>
        </p:txBody>
      </p:sp>
      <p:cxnSp>
        <p:nvCxnSpPr>
          <p:cNvPr id="11" name="Connector 10"/>
          <p:cNvCxnSpPr/>
          <p:nvPr/>
        </p:nvCxnSpPr>
        <p:spPr>
          <a:xfrm>
            <a:off x="2249424" y="2057400"/>
            <a:ext cx="137160" cy="0"/>
          </a:xfrm>
          <a:prstGeom prst="line">
            <a:avLst/>
          </a:prstGeom>
          <a:ln w="19050">
            <a:solidFill>
              <a:srgbClr val="C3C2B7"/>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395728" y="1325880"/>
            <a:ext cx="1783080" cy="1463040"/>
          </a:xfrm>
          <a:prstGeom prst="roundRect">
            <a:avLst>
              <a:gd name="adj" fmla="val 8000"/>
            </a:avLst>
          </a:prstGeom>
          <a:solidFill>
            <a:srgbClr val="2A2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05456" y="1389888"/>
            <a:ext cx="1600200" cy="274320"/>
          </a:xfrm>
          <a:prstGeom prst="rect">
            <a:avLst/>
          </a:prstGeom>
          <a:noFill/>
        </p:spPr>
        <p:txBody>
          <a:bodyPr wrap="square" lIns="18288" rIns="18288" tIns="18288" bIns="18288" anchor="t">
            <a:spAutoFit/>
          </a:bodyPr>
          <a:lstStyle/>
          <a:p>
            <a:pPr algn="l">
              <a:lnSpc>
                <a:spcPct val="110000"/>
              </a:lnSpc>
              <a:spcAft>
                <a:spcPts val="400"/>
              </a:spcAft>
            </a:pPr>
            <a:r>
              <a:rPr sz="1000" b="1" i="0">
                <a:solidFill>
                  <a:srgbClr val="86B6EF"/>
                </a:solidFill>
                <a:latin typeface="Arial"/>
              </a:rPr>
              <a:t>FUSE</a:t>
            </a:r>
          </a:p>
        </p:txBody>
      </p:sp>
      <p:sp>
        <p:nvSpPr>
          <p:cNvPr id="14" name="TextBox 13"/>
          <p:cNvSpPr txBox="1"/>
          <p:nvPr/>
        </p:nvSpPr>
        <p:spPr>
          <a:xfrm>
            <a:off x="2505456" y="1627632"/>
            <a:ext cx="1600200" cy="320040"/>
          </a:xfrm>
          <a:prstGeom prst="rect">
            <a:avLst/>
          </a:prstGeom>
          <a:noFill/>
        </p:spPr>
        <p:txBody>
          <a:bodyPr wrap="square" lIns="18288" rIns="18288" tIns="18288" bIns="18288" anchor="t">
            <a:spAutoFit/>
          </a:bodyPr>
          <a:lstStyle/>
          <a:p>
            <a:pPr algn="l">
              <a:lnSpc>
                <a:spcPct val="110000"/>
              </a:lnSpc>
              <a:spcAft>
                <a:spcPts val="400"/>
              </a:spcAft>
            </a:pPr>
            <a:r>
              <a:rPr sz="1400" b="1" i="0">
                <a:solidFill>
                  <a:srgbClr val="FFFFFF"/>
                </a:solidFill>
                <a:latin typeface="Arial"/>
              </a:rPr>
              <a:t>World state</a:t>
            </a:r>
          </a:p>
        </p:txBody>
      </p:sp>
      <p:sp>
        <p:nvSpPr>
          <p:cNvPr id="15" name="TextBox 14"/>
          <p:cNvSpPr txBox="1"/>
          <p:nvPr/>
        </p:nvSpPr>
        <p:spPr>
          <a:xfrm>
            <a:off x="2505456" y="1965960"/>
            <a:ext cx="1581912" cy="822960"/>
          </a:xfrm>
          <a:prstGeom prst="rect">
            <a:avLst/>
          </a:prstGeom>
          <a:noFill/>
        </p:spPr>
        <p:txBody>
          <a:bodyPr wrap="square" lIns="18288" rIns="18288" tIns="18288" bIns="18288" anchor="t">
            <a:spAutoFit/>
          </a:bodyPr>
          <a:lstStyle/>
          <a:p>
            <a:pPr algn="l">
              <a:lnSpc>
                <a:spcPct val="105000"/>
              </a:lnSpc>
              <a:spcAft>
                <a:spcPts val="400"/>
              </a:spcAft>
            </a:pPr>
            <a:r>
              <a:rPr sz="1050" b="0" i="0">
                <a:solidFill>
                  <a:srgbClr val="C3C2B7"/>
                </a:solidFill>
                <a:latin typeface="Arial"/>
              </a:rPr>
              <a:t>one typed model, timestamps, notional data</a:t>
            </a:r>
          </a:p>
        </p:txBody>
      </p:sp>
      <p:cxnSp>
        <p:nvCxnSpPr>
          <p:cNvPr id="16" name="Connector 15"/>
          <p:cNvCxnSpPr/>
          <p:nvPr/>
        </p:nvCxnSpPr>
        <p:spPr>
          <a:xfrm>
            <a:off x="4187952" y="2057400"/>
            <a:ext cx="137160" cy="0"/>
          </a:xfrm>
          <a:prstGeom prst="line">
            <a:avLst/>
          </a:prstGeom>
          <a:ln w="19050">
            <a:solidFill>
              <a:srgbClr val="C3C2B7"/>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334256" y="1325880"/>
            <a:ext cx="1783080" cy="1463040"/>
          </a:xfrm>
          <a:prstGeom prst="roundRect">
            <a:avLst>
              <a:gd name="adj" fmla="val 8000"/>
            </a:avLst>
          </a:prstGeom>
          <a:solidFill>
            <a:srgbClr val="2A2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43984" y="1389888"/>
            <a:ext cx="1600200" cy="274320"/>
          </a:xfrm>
          <a:prstGeom prst="rect">
            <a:avLst/>
          </a:prstGeom>
          <a:noFill/>
        </p:spPr>
        <p:txBody>
          <a:bodyPr wrap="square" lIns="18288" rIns="18288" tIns="18288" bIns="18288" anchor="t">
            <a:spAutoFit/>
          </a:bodyPr>
          <a:lstStyle/>
          <a:p>
            <a:pPr algn="l">
              <a:lnSpc>
                <a:spcPct val="110000"/>
              </a:lnSpc>
              <a:spcAft>
                <a:spcPts val="400"/>
              </a:spcAft>
            </a:pPr>
            <a:r>
              <a:rPr sz="1000" b="1" i="0">
                <a:solidFill>
                  <a:srgbClr val="86B6EF"/>
                </a:solidFill>
                <a:latin typeface="Arial"/>
              </a:rPr>
              <a:t>PREDICT</a:t>
            </a:r>
          </a:p>
        </p:txBody>
      </p:sp>
      <p:sp>
        <p:nvSpPr>
          <p:cNvPr id="19" name="TextBox 18"/>
          <p:cNvSpPr txBox="1"/>
          <p:nvPr/>
        </p:nvSpPr>
        <p:spPr>
          <a:xfrm>
            <a:off x="4443984" y="1627632"/>
            <a:ext cx="1600200" cy="320040"/>
          </a:xfrm>
          <a:prstGeom prst="rect">
            <a:avLst/>
          </a:prstGeom>
          <a:noFill/>
        </p:spPr>
        <p:txBody>
          <a:bodyPr wrap="square" lIns="18288" rIns="18288" tIns="18288" bIns="18288" anchor="t">
            <a:spAutoFit/>
          </a:bodyPr>
          <a:lstStyle/>
          <a:p>
            <a:pPr algn="l">
              <a:lnSpc>
                <a:spcPct val="110000"/>
              </a:lnSpc>
              <a:spcAft>
                <a:spcPts val="400"/>
              </a:spcAft>
            </a:pPr>
            <a:r>
              <a:rPr sz="1400" b="1" i="0">
                <a:solidFill>
                  <a:srgbClr val="FFFFFF"/>
                </a:solidFill>
                <a:latin typeface="Arial"/>
              </a:rPr>
              <a:t>Predictive layer</a:t>
            </a:r>
          </a:p>
        </p:txBody>
      </p:sp>
      <p:sp>
        <p:nvSpPr>
          <p:cNvPr id="20" name="TextBox 19"/>
          <p:cNvSpPr txBox="1"/>
          <p:nvPr/>
        </p:nvSpPr>
        <p:spPr>
          <a:xfrm>
            <a:off x="4443984" y="1965960"/>
            <a:ext cx="1581912" cy="822960"/>
          </a:xfrm>
          <a:prstGeom prst="rect">
            <a:avLst/>
          </a:prstGeom>
          <a:noFill/>
        </p:spPr>
        <p:txBody>
          <a:bodyPr wrap="square" lIns="18288" rIns="18288" tIns="18288" bIns="18288" anchor="t">
            <a:spAutoFit/>
          </a:bodyPr>
          <a:lstStyle/>
          <a:p>
            <a:pPr algn="l">
              <a:lnSpc>
                <a:spcPct val="105000"/>
              </a:lnSpc>
              <a:spcAft>
                <a:spcPts val="400"/>
              </a:spcAft>
            </a:pPr>
            <a:r>
              <a:rPr sz="1050" b="0" i="0">
                <a:solidFill>
                  <a:srgbClr val="C3C2B7"/>
                </a:solidFill>
                <a:latin typeface="Arial"/>
              </a:rPr>
              <a:t>fog MOS · P(serviceable) · crew fatigue · intel age</a:t>
            </a:r>
          </a:p>
        </p:txBody>
      </p:sp>
      <p:cxnSp>
        <p:nvCxnSpPr>
          <p:cNvPr id="21" name="Connector 20"/>
          <p:cNvCxnSpPr/>
          <p:nvPr/>
        </p:nvCxnSpPr>
        <p:spPr>
          <a:xfrm>
            <a:off x="6126480" y="2057400"/>
            <a:ext cx="137160" cy="0"/>
          </a:xfrm>
          <a:prstGeom prst="line">
            <a:avLst/>
          </a:prstGeom>
          <a:ln w="19050">
            <a:solidFill>
              <a:srgbClr val="C3C2B7"/>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272784" y="1325880"/>
            <a:ext cx="1783080" cy="1463040"/>
          </a:xfrm>
          <a:prstGeom prst="roundRect">
            <a:avLst>
              <a:gd name="adj" fmla="val 8000"/>
            </a:avLst>
          </a:prstGeom>
          <a:solidFill>
            <a:srgbClr val="173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82512" y="1389888"/>
            <a:ext cx="1600200" cy="274320"/>
          </a:xfrm>
          <a:prstGeom prst="rect">
            <a:avLst/>
          </a:prstGeom>
          <a:noFill/>
        </p:spPr>
        <p:txBody>
          <a:bodyPr wrap="square" lIns="18288" rIns="18288" tIns="18288" bIns="18288" anchor="t">
            <a:spAutoFit/>
          </a:bodyPr>
          <a:lstStyle/>
          <a:p>
            <a:pPr algn="l">
              <a:lnSpc>
                <a:spcPct val="110000"/>
              </a:lnSpc>
              <a:spcAft>
                <a:spcPts val="400"/>
              </a:spcAft>
            </a:pPr>
            <a:r>
              <a:rPr sz="1000" b="1" i="0">
                <a:solidFill>
                  <a:srgbClr val="86B6EF"/>
                </a:solidFill>
                <a:latin typeface="Arial"/>
              </a:rPr>
              <a:t>DECIDE</a:t>
            </a:r>
          </a:p>
        </p:txBody>
      </p:sp>
      <p:sp>
        <p:nvSpPr>
          <p:cNvPr id="24" name="TextBox 23"/>
          <p:cNvSpPr txBox="1"/>
          <p:nvPr/>
        </p:nvSpPr>
        <p:spPr>
          <a:xfrm>
            <a:off x="6382512" y="1627632"/>
            <a:ext cx="1600200" cy="320040"/>
          </a:xfrm>
          <a:prstGeom prst="rect">
            <a:avLst/>
          </a:prstGeom>
          <a:noFill/>
        </p:spPr>
        <p:txBody>
          <a:bodyPr wrap="square" lIns="18288" rIns="18288" tIns="18288" bIns="18288" anchor="t">
            <a:spAutoFit/>
          </a:bodyPr>
          <a:lstStyle/>
          <a:p>
            <a:pPr algn="l">
              <a:lnSpc>
                <a:spcPct val="110000"/>
              </a:lnSpc>
              <a:spcAft>
                <a:spcPts val="400"/>
              </a:spcAft>
            </a:pPr>
            <a:r>
              <a:rPr sz="1400" b="1" i="0">
                <a:solidFill>
                  <a:srgbClr val="FFFFFF"/>
                </a:solidFill>
                <a:latin typeface="Arial"/>
              </a:rPr>
              <a:t>Optimiser</a:t>
            </a:r>
          </a:p>
        </p:txBody>
      </p:sp>
      <p:sp>
        <p:nvSpPr>
          <p:cNvPr id="25" name="TextBox 24"/>
          <p:cNvSpPr txBox="1"/>
          <p:nvPr/>
        </p:nvSpPr>
        <p:spPr>
          <a:xfrm>
            <a:off x="6382512" y="1965960"/>
            <a:ext cx="1581912" cy="822960"/>
          </a:xfrm>
          <a:prstGeom prst="rect">
            <a:avLst/>
          </a:prstGeom>
          <a:noFill/>
        </p:spPr>
        <p:txBody>
          <a:bodyPr wrap="square" lIns="18288" rIns="18288" tIns="18288" bIns="18288" anchor="t">
            <a:spAutoFit/>
          </a:bodyPr>
          <a:lstStyle/>
          <a:p>
            <a:pPr algn="l">
              <a:lnSpc>
                <a:spcPct val="105000"/>
              </a:lnSpc>
              <a:spcAft>
                <a:spcPts val="400"/>
              </a:spcAft>
            </a:pPr>
            <a:r>
              <a:rPr sz="1050" b="0" i="0">
                <a:solidFill>
                  <a:srgbClr val="C3C2B7"/>
                </a:solidFill>
                <a:latin typeface="Arial"/>
              </a:rPr>
              <a:t>threat-aware routing · CP-SAT allocation · minimal-disruption retask · COAs · spares</a:t>
            </a:r>
          </a:p>
        </p:txBody>
      </p:sp>
      <p:cxnSp>
        <p:nvCxnSpPr>
          <p:cNvPr id="26" name="Connector 25"/>
          <p:cNvCxnSpPr/>
          <p:nvPr/>
        </p:nvCxnSpPr>
        <p:spPr>
          <a:xfrm>
            <a:off x="8065008" y="2057400"/>
            <a:ext cx="137160" cy="0"/>
          </a:xfrm>
          <a:prstGeom prst="line">
            <a:avLst/>
          </a:prstGeom>
          <a:ln w="19050">
            <a:solidFill>
              <a:srgbClr val="C3C2B7"/>
            </a:solidFill>
            <a:tailEnd type="triangle"/>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211312" y="1325880"/>
            <a:ext cx="1783080" cy="1463040"/>
          </a:xfrm>
          <a:prstGeom prst="roundRect">
            <a:avLst>
              <a:gd name="adj" fmla="val 8000"/>
            </a:avLst>
          </a:prstGeom>
          <a:solidFill>
            <a:srgbClr val="2A2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21040" y="1389888"/>
            <a:ext cx="1600200" cy="274320"/>
          </a:xfrm>
          <a:prstGeom prst="rect">
            <a:avLst/>
          </a:prstGeom>
          <a:noFill/>
        </p:spPr>
        <p:txBody>
          <a:bodyPr wrap="square" lIns="18288" rIns="18288" tIns="18288" bIns="18288" anchor="t">
            <a:spAutoFit/>
          </a:bodyPr>
          <a:lstStyle/>
          <a:p>
            <a:pPr algn="l">
              <a:lnSpc>
                <a:spcPct val="110000"/>
              </a:lnSpc>
              <a:spcAft>
                <a:spcPts val="400"/>
              </a:spcAft>
            </a:pPr>
            <a:r>
              <a:rPr sz="1000" b="1" i="0">
                <a:solidFill>
                  <a:srgbClr val="86B6EF"/>
                </a:solidFill>
                <a:latin typeface="Arial"/>
              </a:rPr>
              <a:t>EXPLAIN</a:t>
            </a:r>
          </a:p>
        </p:txBody>
      </p:sp>
      <p:sp>
        <p:nvSpPr>
          <p:cNvPr id="29" name="TextBox 28"/>
          <p:cNvSpPr txBox="1"/>
          <p:nvPr/>
        </p:nvSpPr>
        <p:spPr>
          <a:xfrm>
            <a:off x="8321040" y="1627632"/>
            <a:ext cx="1600200" cy="320040"/>
          </a:xfrm>
          <a:prstGeom prst="rect">
            <a:avLst/>
          </a:prstGeom>
          <a:noFill/>
        </p:spPr>
        <p:txBody>
          <a:bodyPr wrap="square" lIns="18288" rIns="18288" tIns="18288" bIns="18288" anchor="t">
            <a:spAutoFit/>
          </a:bodyPr>
          <a:lstStyle/>
          <a:p>
            <a:pPr algn="l">
              <a:lnSpc>
                <a:spcPct val="110000"/>
              </a:lnSpc>
              <a:spcAft>
                <a:spcPts val="400"/>
              </a:spcAft>
            </a:pPr>
            <a:r>
              <a:rPr sz="1400" b="1" i="0">
                <a:solidFill>
                  <a:srgbClr val="FFFFFF"/>
                </a:solidFill>
                <a:latin typeface="Arial"/>
              </a:rPr>
              <a:t>Explain + verify</a:t>
            </a:r>
          </a:p>
        </p:txBody>
      </p:sp>
      <p:sp>
        <p:nvSpPr>
          <p:cNvPr id="30" name="TextBox 29"/>
          <p:cNvSpPr txBox="1"/>
          <p:nvPr/>
        </p:nvSpPr>
        <p:spPr>
          <a:xfrm>
            <a:off x="8321040" y="1965960"/>
            <a:ext cx="1581912" cy="822960"/>
          </a:xfrm>
          <a:prstGeom prst="rect">
            <a:avLst/>
          </a:prstGeom>
          <a:noFill/>
        </p:spPr>
        <p:txBody>
          <a:bodyPr wrap="square" lIns="18288" rIns="18288" tIns="18288" bIns="18288" anchor="t">
            <a:spAutoFit/>
          </a:bodyPr>
          <a:lstStyle/>
          <a:p>
            <a:pPr algn="l">
              <a:lnSpc>
                <a:spcPct val="105000"/>
              </a:lnSpc>
              <a:spcAft>
                <a:spcPts val="400"/>
              </a:spcAft>
            </a:pPr>
            <a:r>
              <a:rPr sz="1050" b="0" i="0">
                <a:solidFill>
                  <a:srgbClr val="C3C2B7"/>
                </a:solidFill>
                <a:latin typeface="Arial"/>
              </a:rPr>
              <a:t>reason codes · independent validator · Monte Carlo</a:t>
            </a:r>
          </a:p>
        </p:txBody>
      </p:sp>
      <p:cxnSp>
        <p:nvCxnSpPr>
          <p:cNvPr id="31" name="Connector 30"/>
          <p:cNvCxnSpPr/>
          <p:nvPr/>
        </p:nvCxnSpPr>
        <p:spPr>
          <a:xfrm>
            <a:off x="10003536" y="2057400"/>
            <a:ext cx="137160" cy="0"/>
          </a:xfrm>
          <a:prstGeom prst="line">
            <a:avLst/>
          </a:prstGeom>
          <a:ln w="19050">
            <a:solidFill>
              <a:srgbClr val="C3C2B7"/>
            </a:solidFill>
            <a:tailEnd type="triangle"/>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10149840" y="1325880"/>
            <a:ext cx="1783080" cy="1463040"/>
          </a:xfrm>
          <a:prstGeom prst="roundRect">
            <a:avLst>
              <a:gd name="adj" fmla="val 8000"/>
            </a:avLst>
          </a:prstGeom>
          <a:solidFill>
            <a:srgbClr val="2A2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59568" y="1389888"/>
            <a:ext cx="1600200" cy="274320"/>
          </a:xfrm>
          <a:prstGeom prst="rect">
            <a:avLst/>
          </a:prstGeom>
          <a:noFill/>
        </p:spPr>
        <p:txBody>
          <a:bodyPr wrap="square" lIns="18288" rIns="18288" tIns="18288" bIns="18288" anchor="t">
            <a:spAutoFit/>
          </a:bodyPr>
          <a:lstStyle/>
          <a:p>
            <a:pPr algn="l">
              <a:lnSpc>
                <a:spcPct val="110000"/>
              </a:lnSpc>
              <a:spcAft>
                <a:spcPts val="400"/>
              </a:spcAft>
            </a:pPr>
            <a:r>
              <a:rPr sz="1000" b="1" i="0">
                <a:solidFill>
                  <a:srgbClr val="86B6EF"/>
                </a:solidFill>
                <a:latin typeface="Arial"/>
              </a:rPr>
              <a:t>ACT</a:t>
            </a:r>
          </a:p>
        </p:txBody>
      </p:sp>
      <p:sp>
        <p:nvSpPr>
          <p:cNvPr id="34" name="TextBox 33"/>
          <p:cNvSpPr txBox="1"/>
          <p:nvPr/>
        </p:nvSpPr>
        <p:spPr>
          <a:xfrm>
            <a:off x="10259568" y="1627632"/>
            <a:ext cx="1600200" cy="320040"/>
          </a:xfrm>
          <a:prstGeom prst="rect">
            <a:avLst/>
          </a:prstGeom>
          <a:noFill/>
        </p:spPr>
        <p:txBody>
          <a:bodyPr wrap="square" lIns="18288" rIns="18288" tIns="18288" bIns="18288" anchor="t">
            <a:spAutoFit/>
          </a:bodyPr>
          <a:lstStyle/>
          <a:p>
            <a:pPr algn="l">
              <a:lnSpc>
                <a:spcPct val="110000"/>
              </a:lnSpc>
              <a:spcAft>
                <a:spcPts val="400"/>
              </a:spcAft>
            </a:pPr>
            <a:r>
              <a:rPr sz="1400" b="1" i="0">
                <a:solidFill>
                  <a:srgbClr val="FFFFFF"/>
                </a:solidFill>
                <a:latin typeface="Arial"/>
              </a:rPr>
              <a:t>Commander</a:t>
            </a:r>
          </a:p>
        </p:txBody>
      </p:sp>
      <p:sp>
        <p:nvSpPr>
          <p:cNvPr id="35" name="TextBox 34"/>
          <p:cNvSpPr txBox="1"/>
          <p:nvPr/>
        </p:nvSpPr>
        <p:spPr>
          <a:xfrm>
            <a:off x="10259568" y="1965960"/>
            <a:ext cx="1581912" cy="822960"/>
          </a:xfrm>
          <a:prstGeom prst="rect">
            <a:avLst/>
          </a:prstGeom>
          <a:noFill/>
        </p:spPr>
        <p:txBody>
          <a:bodyPr wrap="square" lIns="18288" rIns="18288" tIns="18288" bIns="18288" anchor="t">
            <a:spAutoFit/>
          </a:bodyPr>
          <a:lstStyle/>
          <a:p>
            <a:pPr algn="l">
              <a:lnSpc>
                <a:spcPct val="105000"/>
              </a:lnSpc>
              <a:spcAft>
                <a:spcPts val="400"/>
              </a:spcAft>
            </a:pPr>
            <a:r>
              <a:rPr sz="1050" b="0" i="0">
                <a:solidFill>
                  <a:srgbClr val="C3C2B7"/>
                </a:solidFill>
                <a:latin typeface="Arial"/>
              </a:rPr>
              <a:t>diff + KPIs → approve / reject → ATO change orders, audit log</a:t>
            </a:r>
          </a:p>
        </p:txBody>
      </p:sp>
      <p:sp>
        <p:nvSpPr>
          <p:cNvPr id="36" name="TextBox 35"/>
          <p:cNvSpPr txBox="1"/>
          <p:nvPr/>
        </p:nvSpPr>
        <p:spPr>
          <a:xfrm>
            <a:off x="457200" y="2834640"/>
            <a:ext cx="11247120" cy="274320"/>
          </a:xfrm>
          <a:prstGeom prst="rect">
            <a:avLst/>
          </a:prstGeom>
          <a:noFill/>
        </p:spPr>
        <p:txBody>
          <a:bodyPr wrap="square" lIns="18288" rIns="18288" tIns="18288" bIns="18288" anchor="t">
            <a:spAutoFit/>
          </a:bodyPr>
          <a:lstStyle/>
          <a:p>
            <a:pPr algn="l">
              <a:lnSpc>
                <a:spcPct val="110000"/>
              </a:lnSpc>
              <a:spcAft>
                <a:spcPts val="400"/>
              </a:spcAft>
            </a:pPr>
            <a:r>
              <a:rPr sz="1100" b="0" i="0">
                <a:solidFill>
                  <a:srgbClr val="898781"/>
                </a:solidFill>
                <a:latin typeface="Arial"/>
              </a:rPr>
              <a:t>↺  Events (weather, unserviceability, pop-up threats, new tasking) re-enter the loop; every proposal waits for a human decision.</a:t>
            </a:r>
          </a:p>
        </p:txBody>
      </p:sp>
      <p:sp>
        <p:nvSpPr>
          <p:cNvPr id="37" name="TextBox 36"/>
          <p:cNvSpPr txBox="1"/>
          <p:nvPr/>
        </p:nvSpPr>
        <p:spPr>
          <a:xfrm>
            <a:off x="457200" y="3246120"/>
            <a:ext cx="5486400" cy="274320"/>
          </a:xfrm>
          <a:prstGeom prst="rect">
            <a:avLst/>
          </a:prstGeom>
          <a:noFill/>
        </p:spPr>
        <p:txBody>
          <a:bodyPr wrap="square" lIns="18288" rIns="18288" tIns="18288" bIns="18288" anchor="t">
            <a:spAutoFit/>
          </a:bodyPr>
          <a:lstStyle/>
          <a:p>
            <a:pPr algn="l">
              <a:lnSpc>
                <a:spcPct val="110000"/>
              </a:lnSpc>
              <a:spcAft>
                <a:spcPts val="400"/>
              </a:spcAft>
            </a:pPr>
            <a:r>
              <a:rPr sz="1100" b="1" i="0">
                <a:solidFill>
                  <a:srgbClr val="898781"/>
                </a:solidFill>
                <a:latin typeface="Arial"/>
              </a:rPr>
              <a:t>TECHNOLOGIES</a:t>
            </a:r>
          </a:p>
        </p:txBody>
      </p:sp>
      <p:sp>
        <p:nvSpPr>
          <p:cNvPr id="38" name="TextBox 37"/>
          <p:cNvSpPr txBox="1"/>
          <p:nvPr/>
        </p:nvSpPr>
        <p:spPr>
          <a:xfrm>
            <a:off x="457200" y="3520440"/>
            <a:ext cx="1463040" cy="457200"/>
          </a:xfrm>
          <a:prstGeom prst="rect">
            <a:avLst/>
          </a:prstGeom>
          <a:noFill/>
        </p:spPr>
        <p:txBody>
          <a:bodyPr wrap="square" lIns="18288" rIns="18288" tIns="18288" bIns="18288" anchor="t">
            <a:spAutoFit/>
          </a:bodyPr>
          <a:lstStyle/>
          <a:p>
            <a:pPr algn="l">
              <a:lnSpc>
                <a:spcPct val="110000"/>
              </a:lnSpc>
              <a:spcAft>
                <a:spcPts val="400"/>
              </a:spcAft>
            </a:pPr>
            <a:r>
              <a:rPr sz="1150" b="1" i="0">
                <a:solidFill>
                  <a:srgbClr val="FFFFFF"/>
                </a:solidFill>
                <a:latin typeface="Arial"/>
              </a:rPr>
              <a:t>Decision engine</a:t>
            </a:r>
          </a:p>
        </p:txBody>
      </p:sp>
      <p:sp>
        <p:nvSpPr>
          <p:cNvPr id="39" name="TextBox 38"/>
          <p:cNvSpPr txBox="1"/>
          <p:nvPr/>
        </p:nvSpPr>
        <p:spPr>
          <a:xfrm>
            <a:off x="1920240" y="3520440"/>
            <a:ext cx="4206240" cy="548640"/>
          </a:xfrm>
          <a:prstGeom prst="rect">
            <a:avLst/>
          </a:prstGeom>
          <a:noFill/>
        </p:spPr>
        <p:txBody>
          <a:bodyPr wrap="square" lIns="18288" rIns="18288" tIns="18288" bIns="18288" anchor="t">
            <a:spAutoFit/>
          </a:bodyPr>
          <a:lstStyle/>
          <a:p>
            <a:pPr algn="l">
              <a:lnSpc>
                <a:spcPct val="105000"/>
              </a:lnSpc>
              <a:spcAft>
                <a:spcPts val="400"/>
              </a:spcAft>
            </a:pPr>
            <a:r>
              <a:rPr sz="1150" b="0" i="0">
                <a:solidFill>
                  <a:srgbClr val="C3C2B7"/>
                </a:solidFill>
                <a:latin typeface="Arial"/>
              </a:rPr>
              <a:t>Python 3.13 · Google OR-Tools CP-SAT · NumPy / SciPy (Dijkstra) · Pydantic</a:t>
            </a:r>
          </a:p>
        </p:txBody>
      </p:sp>
      <p:sp>
        <p:nvSpPr>
          <p:cNvPr id="40" name="TextBox 39"/>
          <p:cNvSpPr txBox="1"/>
          <p:nvPr/>
        </p:nvSpPr>
        <p:spPr>
          <a:xfrm>
            <a:off x="457200" y="4069080"/>
            <a:ext cx="1463040" cy="457200"/>
          </a:xfrm>
          <a:prstGeom prst="rect">
            <a:avLst/>
          </a:prstGeom>
          <a:noFill/>
        </p:spPr>
        <p:txBody>
          <a:bodyPr wrap="square" lIns="18288" rIns="18288" tIns="18288" bIns="18288" anchor="t">
            <a:spAutoFit/>
          </a:bodyPr>
          <a:lstStyle/>
          <a:p>
            <a:pPr algn="l">
              <a:lnSpc>
                <a:spcPct val="110000"/>
              </a:lnSpc>
              <a:spcAft>
                <a:spcPts val="400"/>
              </a:spcAft>
            </a:pPr>
            <a:r>
              <a:rPr sz="1150" b="1" i="0">
                <a:solidFill>
                  <a:srgbClr val="FFFFFF"/>
                </a:solidFill>
                <a:latin typeface="Arial"/>
              </a:rPr>
              <a:t>Service</a:t>
            </a:r>
          </a:p>
        </p:txBody>
      </p:sp>
      <p:sp>
        <p:nvSpPr>
          <p:cNvPr id="41" name="TextBox 40"/>
          <p:cNvSpPr txBox="1"/>
          <p:nvPr/>
        </p:nvSpPr>
        <p:spPr>
          <a:xfrm>
            <a:off x="1920240" y="4069080"/>
            <a:ext cx="4206240" cy="548640"/>
          </a:xfrm>
          <a:prstGeom prst="rect">
            <a:avLst/>
          </a:prstGeom>
          <a:noFill/>
        </p:spPr>
        <p:txBody>
          <a:bodyPr wrap="square" lIns="18288" rIns="18288" tIns="18288" bIns="18288" anchor="t">
            <a:spAutoFit/>
          </a:bodyPr>
          <a:lstStyle/>
          <a:p>
            <a:pPr algn="l">
              <a:lnSpc>
                <a:spcPct val="105000"/>
              </a:lnSpc>
              <a:spcAft>
                <a:spcPts val="400"/>
              </a:spcAft>
            </a:pPr>
            <a:r>
              <a:rPr sz="1150" b="0" i="0">
                <a:solidFill>
                  <a:srgbClr val="C3C2B7"/>
                </a:solidFill>
                <a:latin typeface="Arial"/>
              </a:rPr>
              <a:t>FastAPI (REST); one process serves API and UI; runs offline on one laptop</a:t>
            </a:r>
          </a:p>
        </p:txBody>
      </p:sp>
      <p:sp>
        <p:nvSpPr>
          <p:cNvPr id="42" name="TextBox 41"/>
          <p:cNvSpPr txBox="1"/>
          <p:nvPr/>
        </p:nvSpPr>
        <p:spPr>
          <a:xfrm>
            <a:off x="457200" y="4617720"/>
            <a:ext cx="1463040" cy="457200"/>
          </a:xfrm>
          <a:prstGeom prst="rect">
            <a:avLst/>
          </a:prstGeom>
          <a:noFill/>
        </p:spPr>
        <p:txBody>
          <a:bodyPr wrap="square" lIns="18288" rIns="18288" tIns="18288" bIns="18288" anchor="t">
            <a:spAutoFit/>
          </a:bodyPr>
          <a:lstStyle/>
          <a:p>
            <a:pPr algn="l">
              <a:lnSpc>
                <a:spcPct val="110000"/>
              </a:lnSpc>
              <a:spcAft>
                <a:spcPts val="400"/>
              </a:spcAft>
            </a:pPr>
            <a:r>
              <a:rPr sz="1150" b="1" i="0">
                <a:solidFill>
                  <a:srgbClr val="FFFFFF"/>
                </a:solidFill>
                <a:latin typeface="Arial"/>
              </a:rPr>
              <a:t>User interface</a:t>
            </a:r>
          </a:p>
        </p:txBody>
      </p:sp>
      <p:sp>
        <p:nvSpPr>
          <p:cNvPr id="43" name="TextBox 42"/>
          <p:cNvSpPr txBox="1"/>
          <p:nvPr/>
        </p:nvSpPr>
        <p:spPr>
          <a:xfrm>
            <a:off x="1920240" y="4617720"/>
            <a:ext cx="4206240" cy="548640"/>
          </a:xfrm>
          <a:prstGeom prst="rect">
            <a:avLst/>
          </a:prstGeom>
          <a:noFill/>
        </p:spPr>
        <p:txBody>
          <a:bodyPr wrap="square" lIns="18288" rIns="18288" tIns="18288" bIns="18288" anchor="t">
            <a:spAutoFit/>
          </a:bodyPr>
          <a:lstStyle/>
          <a:p>
            <a:pPr algn="l">
              <a:lnSpc>
                <a:spcPct val="105000"/>
              </a:lnSpc>
              <a:spcAft>
                <a:spcPts val="400"/>
              </a:spcAft>
            </a:pPr>
            <a:r>
              <a:rPr sz="1150" b="0" i="0">
                <a:solidFill>
                  <a:srgbClr val="C3C2B7"/>
                </a:solidFill>
                <a:latin typeface="Arial"/>
              </a:rPr>
              <a:t>React 19 + TypeScript · deck.gl map with an offline basemap (India's official boundary) · Zustand</a:t>
            </a:r>
          </a:p>
        </p:txBody>
      </p:sp>
      <p:sp>
        <p:nvSpPr>
          <p:cNvPr id="44" name="TextBox 43"/>
          <p:cNvSpPr txBox="1"/>
          <p:nvPr/>
        </p:nvSpPr>
        <p:spPr>
          <a:xfrm>
            <a:off x="457200" y="5166359"/>
            <a:ext cx="1463040" cy="457200"/>
          </a:xfrm>
          <a:prstGeom prst="rect">
            <a:avLst/>
          </a:prstGeom>
          <a:noFill/>
        </p:spPr>
        <p:txBody>
          <a:bodyPr wrap="square" lIns="18288" rIns="18288" tIns="18288" bIns="18288" anchor="t">
            <a:spAutoFit/>
          </a:bodyPr>
          <a:lstStyle/>
          <a:p>
            <a:pPr algn="l">
              <a:lnSpc>
                <a:spcPct val="110000"/>
              </a:lnSpc>
              <a:spcAft>
                <a:spcPts val="400"/>
              </a:spcAft>
            </a:pPr>
            <a:r>
              <a:rPr sz="1150" b="1" i="0">
                <a:solidFill>
                  <a:srgbClr val="FFFFFF"/>
                </a:solidFill>
                <a:latin typeface="Arial"/>
              </a:rPr>
              <a:t>Prediction</a:t>
            </a:r>
          </a:p>
        </p:txBody>
      </p:sp>
      <p:sp>
        <p:nvSpPr>
          <p:cNvPr id="45" name="TextBox 44"/>
          <p:cNvSpPr txBox="1"/>
          <p:nvPr/>
        </p:nvSpPr>
        <p:spPr>
          <a:xfrm>
            <a:off x="1920240" y="5166359"/>
            <a:ext cx="4206240" cy="548640"/>
          </a:xfrm>
          <a:prstGeom prst="rect">
            <a:avLst/>
          </a:prstGeom>
          <a:noFill/>
        </p:spPr>
        <p:txBody>
          <a:bodyPr wrap="square" lIns="18288" rIns="18288" tIns="18288" bIns="18288" anchor="t">
            <a:spAutoFit/>
          </a:bodyPr>
          <a:lstStyle/>
          <a:p>
            <a:pPr algn="l">
              <a:lnSpc>
                <a:spcPct val="105000"/>
              </a:lnSpc>
              <a:spcAft>
                <a:spcPts val="400"/>
              </a:spcAft>
            </a:pPr>
            <a:r>
              <a:rPr sz="1150" b="0" i="0">
                <a:solidFill>
                  <a:srgbClr val="C3C2B7"/>
                </a:solidFill>
                <a:latin typeface="Arial"/>
              </a:rPr>
              <a:t>Logistic MOS on Open-Meteo NWP, labelled with IEM METAR; held-out winter validation</a:t>
            </a:r>
          </a:p>
        </p:txBody>
      </p:sp>
      <p:sp>
        <p:nvSpPr>
          <p:cNvPr id="46" name="TextBox 45"/>
          <p:cNvSpPr txBox="1"/>
          <p:nvPr/>
        </p:nvSpPr>
        <p:spPr>
          <a:xfrm>
            <a:off x="457200" y="5714999"/>
            <a:ext cx="1463040" cy="457200"/>
          </a:xfrm>
          <a:prstGeom prst="rect">
            <a:avLst/>
          </a:prstGeom>
          <a:noFill/>
        </p:spPr>
        <p:txBody>
          <a:bodyPr wrap="square" lIns="18288" rIns="18288" tIns="18288" bIns="18288" anchor="t">
            <a:spAutoFit/>
          </a:bodyPr>
          <a:lstStyle/>
          <a:p>
            <a:pPr algn="l">
              <a:lnSpc>
                <a:spcPct val="110000"/>
              </a:lnSpc>
              <a:spcAft>
                <a:spcPts val="400"/>
              </a:spcAft>
            </a:pPr>
            <a:r>
              <a:rPr sz="1150" b="1" i="0">
                <a:solidFill>
                  <a:srgbClr val="FFFFFF"/>
                </a:solidFill>
                <a:latin typeface="Arial"/>
              </a:rPr>
              <a:t>Assurance</a:t>
            </a:r>
          </a:p>
        </p:txBody>
      </p:sp>
      <p:sp>
        <p:nvSpPr>
          <p:cNvPr id="47" name="TextBox 46"/>
          <p:cNvSpPr txBox="1"/>
          <p:nvPr/>
        </p:nvSpPr>
        <p:spPr>
          <a:xfrm>
            <a:off x="1920240" y="5714999"/>
            <a:ext cx="4206240" cy="548640"/>
          </a:xfrm>
          <a:prstGeom prst="rect">
            <a:avLst/>
          </a:prstGeom>
          <a:noFill/>
        </p:spPr>
        <p:txBody>
          <a:bodyPr wrap="square" lIns="18288" rIns="18288" tIns="18288" bIns="18288" anchor="t">
            <a:spAutoFit/>
          </a:bodyPr>
          <a:lstStyle/>
          <a:p>
            <a:pPr algn="l">
              <a:lnSpc>
                <a:spcPct val="105000"/>
              </a:lnSpc>
              <a:spcAft>
                <a:spcPts val="400"/>
              </a:spcAft>
            </a:pPr>
            <a:r>
              <a:rPr sz="1150" b="0" i="0">
                <a:solidFill>
                  <a:srgbClr val="C3C2B7"/>
                </a:solidFill>
                <a:latin typeface="Arial"/>
              </a:rPr>
              <a:t>30 engine tests · independent constraint validator · Playwright browser end-to-end test</a:t>
            </a:r>
          </a:p>
        </p:txBody>
      </p:sp>
      <p:sp>
        <p:nvSpPr>
          <p:cNvPr id="48" name="TextBox 47"/>
          <p:cNvSpPr txBox="1"/>
          <p:nvPr/>
        </p:nvSpPr>
        <p:spPr>
          <a:xfrm>
            <a:off x="6400800" y="3246120"/>
            <a:ext cx="5303520" cy="274320"/>
          </a:xfrm>
          <a:prstGeom prst="rect">
            <a:avLst/>
          </a:prstGeom>
          <a:noFill/>
        </p:spPr>
        <p:txBody>
          <a:bodyPr wrap="square" lIns="18288" rIns="18288" tIns="18288" bIns="18288" anchor="t">
            <a:spAutoFit/>
          </a:bodyPr>
          <a:lstStyle/>
          <a:p>
            <a:pPr algn="l">
              <a:lnSpc>
                <a:spcPct val="110000"/>
              </a:lnSpc>
              <a:spcAft>
                <a:spcPts val="400"/>
              </a:spcAft>
            </a:pPr>
            <a:r>
              <a:rPr sz="1100" b="1" i="0">
                <a:solidFill>
                  <a:srgbClr val="898781"/>
                </a:solidFill>
                <a:latin typeface="Arial"/>
              </a:rPr>
              <a:t>KEY METHODS</a:t>
            </a:r>
          </a:p>
        </p:txBody>
      </p:sp>
      <p:sp>
        <p:nvSpPr>
          <p:cNvPr id="49" name="TextBox 48"/>
          <p:cNvSpPr txBox="1"/>
          <p:nvPr/>
        </p:nvSpPr>
        <p:spPr>
          <a:xfrm>
            <a:off x="6400800" y="3520440"/>
            <a:ext cx="5349240" cy="2926080"/>
          </a:xfrm>
          <a:prstGeom prst="rect">
            <a:avLst/>
          </a:prstGeom>
          <a:noFill/>
        </p:spPr>
        <p:txBody>
          <a:bodyPr wrap="square" lIns="18288" rIns="18288" tIns="18288" bIns="18288" anchor="t">
            <a:spAutoFit/>
          </a:bodyPr>
          <a:lstStyle/>
          <a:p>
            <a:pPr algn="l">
              <a:lnSpc>
                <a:spcPct val="110000"/>
              </a:lnSpc>
              <a:spcAft>
                <a:spcPts val="500"/>
              </a:spcAft>
            </a:pPr>
            <a:r>
              <a:rPr sz="1150" b="0" i="0">
                <a:solidFill>
                  <a:srgbClr val="3987E5"/>
                </a:solidFill>
                <a:latin typeface="Arial"/>
              </a:rPr>
              <a:t>▪  </a:t>
            </a:r>
            <a:r>
              <a:rPr sz="1150" b="0" i="0">
                <a:solidFill>
                  <a:srgbClr val="C3C2B7"/>
                </a:solidFill>
                <a:latin typeface="Arial"/>
              </a:rPr>
              <a:t>CP-SAT with optional intervals for aircraft, crews and tankers; cumulative alert-reserve floor; time-on-target domains from crew rest, night currency and base closures</a:t>
            </a:r>
          </a:p>
          <a:p>
            <a:pPr algn="l">
              <a:lnSpc>
                <a:spcPct val="110000"/>
              </a:lnSpc>
              <a:spcAft>
                <a:spcPts val="500"/>
              </a:spcAft>
            </a:pPr>
            <a:r>
              <a:rPr sz="1150" b="0" i="0">
                <a:solidFill>
                  <a:srgbClr val="3987E5"/>
                </a:solidFill>
                <a:latin typeface="Arial"/>
              </a:rPr>
              <a:t>▪  </a:t>
            </a:r>
            <a:r>
              <a:rPr sz="1150" b="0" i="0">
                <a:solidFill>
                  <a:srgbClr val="C3C2B7"/>
                </a:solidFill>
                <a:latin typeface="Arial"/>
              </a:rPr>
              <a:t>Retask objective rewards keeping what is planned, weighted by time to launch (×1 planned, ×3 briefed, ×8 armed); launched missions are frozen</a:t>
            </a:r>
          </a:p>
          <a:p>
            <a:pPr algn="l">
              <a:lnSpc>
                <a:spcPct val="110000"/>
              </a:lnSpc>
              <a:spcAft>
                <a:spcPts val="500"/>
              </a:spcAft>
            </a:pPr>
            <a:r>
              <a:rPr sz="1150" b="0" i="0">
                <a:solidFill>
                  <a:srgbClr val="3987E5"/>
                </a:solidFill>
                <a:latin typeface="Arial"/>
              </a:rPr>
              <a:t>▪  </a:t>
            </a:r>
            <a:r>
              <a:rPr sz="1150" b="0" i="0">
                <a:solidFill>
                  <a:srgbClr val="C3C2B7"/>
                </a:solidFill>
                <a:latin typeface="Arial"/>
              </a:rPr>
              <a:t>Threat hazard field with intel-age envelope growth and SEAD suppression; Dijkstra plus any-angle smoothing</a:t>
            </a:r>
          </a:p>
          <a:p>
            <a:pPr algn="l">
              <a:lnSpc>
                <a:spcPct val="110000"/>
              </a:lnSpc>
              <a:spcAft>
                <a:spcPts val="500"/>
              </a:spcAft>
            </a:pPr>
            <a:r>
              <a:rPr sz="1150" b="0" i="0">
                <a:solidFill>
                  <a:srgbClr val="3987E5"/>
                </a:solidFill>
                <a:latin typeface="Arial"/>
              </a:rPr>
              <a:t>▪  </a:t>
            </a:r>
            <a:r>
              <a:rPr sz="1150" b="0" i="0">
                <a:solidFill>
                  <a:srgbClr val="C3C2B7"/>
                </a:solidFill>
                <a:latin typeface="Arial"/>
              </a:rPr>
              <a:t>Two-process fatigue model gives each crew's fit time windows</a:t>
            </a:r>
          </a:p>
          <a:p>
            <a:pPr algn="l">
              <a:lnSpc>
                <a:spcPct val="110000"/>
              </a:lnSpc>
              <a:spcAft>
                <a:spcPts val="500"/>
              </a:spcAft>
            </a:pPr>
            <a:r>
              <a:rPr sz="1150" b="0" i="0">
                <a:solidFill>
                  <a:srgbClr val="3987E5"/>
                </a:solidFill>
                <a:latin typeface="Arial"/>
              </a:rPr>
              <a:t>▪  </a:t>
            </a:r>
            <a:r>
              <a:rPr sz="1150" b="0" i="0">
                <a:solidFill>
                  <a:srgbClr val="C3C2B7"/>
                </a:solidFill>
                <a:latin typeface="Arial"/>
              </a:rPr>
              <a:t>One mission-success model (serviceability with spares, tankers, SEAD before strike, ingress risk) drives both the expected-value KPI and the Monte Carlo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1211"/>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1E6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0" y="0"/>
            <a:ext cx="12191695" cy="201168"/>
          </a:xfrm>
          <a:prstGeom prst="rect">
            <a:avLst/>
          </a:prstGeom>
          <a:noFill/>
        </p:spPr>
        <p:txBody>
          <a:bodyPr wrap="square" lIns="18288" rIns="18288" tIns="18288" bIns="18288" anchor="ctr">
            <a:spAutoFit/>
          </a:bodyPr>
          <a:lstStyle/>
          <a:p>
            <a:pPr algn="ctr">
              <a:lnSpc>
                <a:spcPct val="110000"/>
              </a:lnSpc>
              <a:spcAft>
                <a:spcPts val="400"/>
              </a:spcAft>
            </a:pPr>
            <a:r>
              <a:rPr sz="900" b="1" i="0">
                <a:solidFill>
                  <a:srgbClr val="FFFFFF"/>
                </a:solidFill>
                <a:latin typeface="Arial"/>
              </a:rPr>
              <a:t>UNCLASSIFIED // EXERCISE · NOTIONAL DATA</a:t>
            </a:r>
          </a:p>
        </p:txBody>
      </p:sp>
      <p:sp>
        <p:nvSpPr>
          <p:cNvPr id="4" name="TextBox 3"/>
          <p:cNvSpPr txBox="1"/>
          <p:nvPr/>
        </p:nvSpPr>
        <p:spPr>
          <a:xfrm>
            <a:off x="457200" y="329184"/>
            <a:ext cx="8229600" cy="274320"/>
          </a:xfrm>
          <a:prstGeom prst="rect">
            <a:avLst/>
          </a:prstGeom>
          <a:noFill/>
        </p:spPr>
        <p:txBody>
          <a:bodyPr wrap="square" lIns="18288" rIns="18288" tIns="18288" bIns="18288" anchor="t">
            <a:spAutoFit/>
          </a:bodyPr>
          <a:lstStyle/>
          <a:p>
            <a:pPr algn="l">
              <a:lnSpc>
                <a:spcPct val="110000"/>
              </a:lnSpc>
              <a:spcAft>
                <a:spcPts val="400"/>
              </a:spcAft>
            </a:pPr>
            <a:r>
              <a:rPr sz="1100" b="1" i="0">
                <a:solidFill>
                  <a:srgbClr val="86B6EF"/>
                </a:solidFill>
                <a:latin typeface="Arial"/>
              </a:rPr>
              <a:t>FEASIBILITY AND VIABILITY</a:t>
            </a:r>
          </a:p>
        </p:txBody>
      </p:sp>
      <p:sp>
        <p:nvSpPr>
          <p:cNvPr id="5" name="TextBox 4"/>
          <p:cNvSpPr txBox="1"/>
          <p:nvPr/>
        </p:nvSpPr>
        <p:spPr>
          <a:xfrm>
            <a:off x="457200" y="566928"/>
            <a:ext cx="11247120" cy="548640"/>
          </a:xfrm>
          <a:prstGeom prst="rect">
            <a:avLst/>
          </a:prstGeom>
          <a:noFill/>
        </p:spPr>
        <p:txBody>
          <a:bodyPr wrap="square" lIns="18288" rIns="18288" tIns="18288" bIns="18288" anchor="t">
            <a:spAutoFit/>
          </a:bodyPr>
          <a:lstStyle/>
          <a:p>
            <a:pPr algn="l">
              <a:lnSpc>
                <a:spcPct val="110000"/>
              </a:lnSpc>
              <a:spcAft>
                <a:spcPts val="400"/>
              </a:spcAft>
            </a:pPr>
            <a:r>
              <a:rPr sz="2600" b="1" i="0">
                <a:solidFill>
                  <a:srgbClr val="FFFFFF"/>
                </a:solidFill>
                <a:latin typeface="Arial"/>
              </a:rPr>
              <a:t>Feasibility and viability: the prototype already works</a:t>
            </a:r>
          </a:p>
        </p:txBody>
      </p:sp>
      <p:sp>
        <p:nvSpPr>
          <p:cNvPr id="6" name="TextBox 5"/>
          <p:cNvSpPr txBox="1"/>
          <p:nvPr/>
        </p:nvSpPr>
        <p:spPr>
          <a:xfrm>
            <a:off x="457200" y="6492240"/>
            <a:ext cx="7315200" cy="274320"/>
          </a:xfrm>
          <a:prstGeom prst="rect">
            <a:avLst/>
          </a:prstGeom>
          <a:noFill/>
        </p:spPr>
        <p:txBody>
          <a:bodyPr wrap="square" lIns="18288" rIns="18288" tIns="18288" bIns="18288" anchor="t">
            <a:spAutoFit/>
          </a:bodyPr>
          <a:lstStyle/>
          <a:p>
            <a:pPr algn="l">
              <a:lnSpc>
                <a:spcPct val="110000"/>
              </a:lnSpc>
              <a:spcAft>
                <a:spcPts val="400"/>
              </a:spcAft>
            </a:pPr>
            <a:r>
              <a:rPr sz="900" b="0" i="0">
                <a:solidFill>
                  <a:srgbClr val="898781"/>
                </a:solidFill>
                <a:latin typeface="Arial"/>
              </a:rPr>
              <a:t>VAYU-SARTHI · SIH 2026 · PS 26250</a:t>
            </a:r>
          </a:p>
        </p:txBody>
      </p:sp>
      <p:sp>
        <p:nvSpPr>
          <p:cNvPr id="7" name="TextBox 6"/>
          <p:cNvSpPr txBox="1"/>
          <p:nvPr/>
        </p:nvSpPr>
        <p:spPr>
          <a:xfrm>
            <a:off x="457200" y="1234440"/>
            <a:ext cx="5852160" cy="274320"/>
          </a:xfrm>
          <a:prstGeom prst="rect">
            <a:avLst/>
          </a:prstGeom>
          <a:noFill/>
        </p:spPr>
        <p:txBody>
          <a:bodyPr wrap="square" lIns="18288" rIns="18288" tIns="18288" bIns="18288" anchor="t">
            <a:spAutoFit/>
          </a:bodyPr>
          <a:lstStyle/>
          <a:p>
            <a:pPr algn="l">
              <a:lnSpc>
                <a:spcPct val="110000"/>
              </a:lnSpc>
              <a:spcAft>
                <a:spcPts val="400"/>
              </a:spcAft>
            </a:pPr>
            <a:r>
              <a:rPr sz="1100" b="1" i="0">
                <a:solidFill>
                  <a:srgbClr val="898781"/>
                </a:solidFill>
                <a:latin typeface="Arial"/>
              </a:rPr>
              <a:t>MEASURED RESULTS (NOTIONAL SCENARIOS, LAPTOP CPU)</a:t>
            </a:r>
          </a:p>
        </p:txBody>
      </p:sp>
      <p:graphicFrame>
        <p:nvGraphicFramePr>
          <p:cNvPr id="8" name="Table 7"/>
          <p:cNvGraphicFramePr>
            <a:graphicFrameLocks noGrp="1"/>
          </p:cNvGraphicFramePr>
          <p:nvPr/>
        </p:nvGraphicFramePr>
        <p:xfrm>
          <a:off x="457200" y="1554480"/>
          <a:ext cx="5943600" cy="2779776"/>
        </p:xfrm>
        <a:graphic>
          <a:graphicData uri="http://schemas.openxmlformats.org/drawingml/2006/table">
            <a:tbl>
              <a:tblPr firstRow="1" bandRow="1">
                <a:tableStyleId>{2D5ABB26-0587-4C30-8999-92F81FD0307C}</a:tableStyleId>
              </a:tblPr>
              <a:tblGrid>
                <a:gridCol w="2880360"/>
                <a:gridCol w="1508760"/>
                <a:gridCol w="1554480"/>
              </a:tblGrid>
              <a:tr h="347472">
                <a:tc>
                  <a:txBody>
                    <a:bodyPr/>
                    <a:lstStyle/>
                    <a:p>
                      <a:r>
                        <a:rPr sz="1000" b="1" i="0">
                          <a:solidFill>
                            <a:srgbClr val="FFFFFF"/>
                          </a:solidFill>
                          <a:latin typeface="Arial"/>
                        </a:rPr>
                        <a:t>Metric</a:t>
                      </a:r>
                    </a:p>
                  </a:txBody>
                  <a:tcPr marL="54864" marR="54864" marT="27432" marB="27432">
                    <a:solidFill>
                      <a:srgbClr val="2A2A28"/>
                    </a:solidFill>
                  </a:tcPr>
                </a:tc>
                <a:tc>
                  <a:txBody>
                    <a:bodyPr/>
                    <a:lstStyle/>
                    <a:p>
                      <a:r>
                        <a:rPr sz="1000" b="1" i="0">
                          <a:solidFill>
                            <a:srgbClr val="FFFFFF"/>
                          </a:solidFill>
                          <a:latin typeface="Arial"/>
                        </a:rPr>
                        <a:t>Baseline</a:t>
                      </a:r>
                    </a:p>
                  </a:txBody>
                  <a:tcPr marL="54864" marR="54864" marT="27432" marB="27432">
                    <a:solidFill>
                      <a:srgbClr val="2A2A28"/>
                    </a:solidFill>
                  </a:tcPr>
                </a:tc>
                <a:tc>
                  <a:txBody>
                    <a:bodyPr/>
                    <a:lstStyle/>
                    <a:p>
                      <a:r>
                        <a:rPr sz="1000" b="1" i="0">
                          <a:solidFill>
                            <a:srgbClr val="FFFFFF"/>
                          </a:solidFill>
                          <a:latin typeface="Arial"/>
                        </a:rPr>
                        <a:t>VAYU-SARTHI</a:t>
                      </a:r>
                    </a:p>
                  </a:txBody>
                  <a:tcPr marL="54864" marR="54864" marT="27432" marB="27432">
                    <a:solidFill>
                      <a:srgbClr val="2A2A28"/>
                    </a:solidFill>
                  </a:tcPr>
                </a:tc>
              </a:tr>
              <a:tr h="347472">
                <a:tc>
                  <a:txBody>
                    <a:bodyPr/>
                    <a:lstStyle/>
                    <a:p>
                      <a:r>
                        <a:rPr sz="1050" b="0" i="0">
                          <a:solidFill>
                            <a:srgbClr val="C3C2B7"/>
                          </a:solidFill>
                          <a:latin typeface="Arial"/>
                        </a:rPr>
                        <a:t>Priority-weighted fulfilment · 20 scenarios</a:t>
                      </a:r>
                    </a:p>
                  </a:txBody>
                  <a:tcPr marL="54864" marR="54864" marT="27432" marB="27432">
                    <a:solidFill>
                      <a:srgbClr val="1E1E1C"/>
                    </a:solidFill>
                  </a:tcPr>
                </a:tc>
                <a:tc>
                  <a:txBody>
                    <a:bodyPr/>
                    <a:lstStyle/>
                    <a:p>
                      <a:r>
                        <a:rPr sz="1050" b="0" i="0">
                          <a:solidFill>
                            <a:srgbClr val="C3C2B7"/>
                          </a:solidFill>
                          <a:latin typeface="Arial"/>
                        </a:rPr>
                        <a:t>85.1% manual-style</a:t>
                      </a:r>
                    </a:p>
                  </a:txBody>
                  <a:tcPr marL="54864" marR="54864" marT="27432" marB="27432">
                    <a:solidFill>
                      <a:srgbClr val="1E1E1C"/>
                    </a:solidFill>
                  </a:tcPr>
                </a:tc>
                <a:tc>
                  <a:txBody>
                    <a:bodyPr/>
                    <a:lstStyle/>
                    <a:p>
                      <a:r>
                        <a:rPr sz="1050" b="1" i="0">
                          <a:solidFill>
                            <a:srgbClr val="FFFFFF"/>
                          </a:solidFill>
                          <a:latin typeface="Arial"/>
                        </a:rPr>
                        <a:t>97.5%</a:t>
                      </a:r>
                    </a:p>
                  </a:txBody>
                  <a:tcPr marL="54864" marR="54864" marT="27432" marB="27432">
                    <a:solidFill>
                      <a:srgbClr val="1E1E1C"/>
                    </a:solidFill>
                  </a:tcPr>
                </a:tc>
              </a:tr>
              <a:tr h="347472">
                <a:tc>
                  <a:txBody>
                    <a:bodyPr/>
                    <a:lstStyle/>
                    <a:p>
                      <a:r>
                        <a:rPr sz="1050" b="0" i="0">
                          <a:solidFill>
                            <a:srgbClr val="C3C2B7"/>
                          </a:solidFill>
                          <a:latin typeface="Arial"/>
                        </a:rPr>
                        <a:t>Expected mission value on the day</a:t>
                      </a:r>
                    </a:p>
                  </a:txBody>
                  <a:tcPr marL="54864" marR="54864" marT="27432" marB="27432">
                    <a:solidFill>
                      <a:srgbClr val="121211"/>
                    </a:solidFill>
                  </a:tcPr>
                </a:tc>
                <a:tc>
                  <a:txBody>
                    <a:bodyPr/>
                    <a:lstStyle/>
                    <a:p>
                      <a:r>
                        <a:rPr sz="1050" b="0" i="0">
                          <a:solidFill>
                            <a:srgbClr val="C3C2B7"/>
                          </a:solidFill>
                          <a:latin typeface="Arial"/>
                        </a:rPr>
                        <a:t>65.3%</a:t>
                      </a:r>
                    </a:p>
                  </a:txBody>
                  <a:tcPr marL="54864" marR="54864" marT="27432" marB="27432">
                    <a:solidFill>
                      <a:srgbClr val="121211"/>
                    </a:solidFill>
                  </a:tcPr>
                </a:tc>
                <a:tc>
                  <a:txBody>
                    <a:bodyPr/>
                    <a:lstStyle/>
                    <a:p>
                      <a:r>
                        <a:rPr sz="1050" b="1" i="0">
                          <a:solidFill>
                            <a:srgbClr val="FFFFFF"/>
                          </a:solidFill>
                          <a:latin typeface="Arial"/>
                        </a:rPr>
                        <a:t>78.8%</a:t>
                      </a:r>
                    </a:p>
                  </a:txBody>
                  <a:tcPr marL="54864" marR="54864" marT="27432" marB="27432">
                    <a:solidFill>
                      <a:srgbClr val="121211"/>
                    </a:solidFill>
                  </a:tcPr>
                </a:tc>
              </a:tr>
              <a:tr h="347472">
                <a:tc>
                  <a:txBody>
                    <a:bodyPr/>
                    <a:lstStyle/>
                    <a:p>
                      <a:r>
                        <a:rPr sz="1050" b="0" i="0">
                          <a:solidFill>
                            <a:srgbClr val="C3C2B7"/>
                          </a:solidFill>
                          <a:latin typeface="Arial"/>
                        </a:rPr>
                        <a:t>Aircraft reassigned, base fogged · 8 scenarios</a:t>
                      </a:r>
                    </a:p>
                  </a:txBody>
                  <a:tcPr marL="54864" marR="54864" marT="27432" marB="27432">
                    <a:solidFill>
                      <a:srgbClr val="1E1E1C"/>
                    </a:solidFill>
                  </a:tcPr>
                </a:tc>
                <a:tc>
                  <a:txBody>
                    <a:bodyPr/>
                    <a:lstStyle/>
                    <a:p>
                      <a:r>
                        <a:rPr sz="1050" b="0" i="0">
                          <a:solidFill>
                            <a:srgbClr val="C3C2B7"/>
                          </a:solidFill>
                          <a:latin typeface="Arial"/>
                        </a:rPr>
                        <a:t>37.5 naive re-plan</a:t>
                      </a:r>
                    </a:p>
                  </a:txBody>
                  <a:tcPr marL="54864" marR="54864" marT="27432" marB="27432">
                    <a:solidFill>
                      <a:srgbClr val="1E1E1C"/>
                    </a:solidFill>
                  </a:tcPr>
                </a:tc>
                <a:tc>
                  <a:txBody>
                    <a:bodyPr/>
                    <a:lstStyle/>
                    <a:p>
                      <a:r>
                        <a:rPr sz="1050" b="1" i="0">
                          <a:solidFill>
                            <a:srgbClr val="FFFFFF"/>
                          </a:solidFill>
                          <a:latin typeface="Arial"/>
                        </a:rPr>
                        <a:t>12.8 in 1.7 s</a:t>
                      </a:r>
                    </a:p>
                  </a:txBody>
                  <a:tcPr marL="54864" marR="54864" marT="27432" marB="27432">
                    <a:solidFill>
                      <a:srgbClr val="1E1E1C"/>
                    </a:solidFill>
                  </a:tcPr>
                </a:tc>
              </a:tr>
              <a:tr h="347472">
                <a:tc>
                  <a:txBody>
                    <a:bodyPr/>
                    <a:lstStyle/>
                    <a:p>
                      <a:r>
                        <a:rPr sz="1050" b="0" i="0">
                          <a:solidFill>
                            <a:srgbClr val="C3C2B7"/>
                          </a:solidFill>
                          <a:latin typeface="Arial"/>
                        </a:rPr>
                        <a:t>Fog hours forecast · held-out winter</a:t>
                      </a:r>
                    </a:p>
                  </a:txBody>
                  <a:tcPr marL="54864" marR="54864" marT="27432" marB="27432">
                    <a:solidFill>
                      <a:srgbClr val="121211"/>
                    </a:solidFill>
                  </a:tcPr>
                </a:tc>
                <a:tc>
                  <a:txBody>
                    <a:bodyPr/>
                    <a:lstStyle/>
                    <a:p>
                      <a:r>
                        <a:rPr sz="1050" b="0" i="0">
                          <a:solidFill>
                            <a:srgbClr val="C3C2B7"/>
                          </a:solidFill>
                          <a:latin typeface="Arial"/>
                        </a:rPr>
                        <a:t>26% raw model</a:t>
                      </a:r>
                    </a:p>
                  </a:txBody>
                  <a:tcPr marL="54864" marR="54864" marT="27432" marB="27432">
                    <a:solidFill>
                      <a:srgbClr val="121211"/>
                    </a:solidFill>
                  </a:tcPr>
                </a:tc>
                <a:tc>
                  <a:txBody>
                    <a:bodyPr/>
                    <a:lstStyle/>
                    <a:p>
                      <a:r>
                        <a:rPr sz="1050" b="1" i="0">
                          <a:solidFill>
                            <a:srgbClr val="FFFFFF"/>
                          </a:solidFill>
                          <a:latin typeface="Arial"/>
                        </a:rPr>
                        <a:t>70% (AUC 0.91)</a:t>
                      </a:r>
                    </a:p>
                  </a:txBody>
                  <a:tcPr marL="54864" marR="54864" marT="27432" marB="27432">
                    <a:solidFill>
                      <a:srgbClr val="121211"/>
                    </a:solidFill>
                  </a:tcPr>
                </a:tc>
              </a:tr>
              <a:tr h="347472">
                <a:tc>
                  <a:txBody>
                    <a:bodyPr/>
                    <a:lstStyle/>
                    <a:p>
                      <a:r>
                        <a:rPr sz="1050" b="0" i="0">
                          <a:solidFill>
                            <a:srgbClr val="C3C2B7"/>
                          </a:solidFill>
                          <a:latin typeface="Arial"/>
                        </a:rPr>
                        <a:t>Bad-day (p05) success · ground spares</a:t>
                      </a:r>
                    </a:p>
                  </a:txBody>
                  <a:tcPr marL="54864" marR="54864" marT="27432" marB="27432">
                    <a:solidFill>
                      <a:srgbClr val="1E1E1C"/>
                    </a:solidFill>
                  </a:tcPr>
                </a:tc>
                <a:tc>
                  <a:txBody>
                    <a:bodyPr/>
                    <a:lstStyle/>
                    <a:p>
                      <a:r>
                        <a:rPr sz="1050" b="0" i="0">
                          <a:solidFill>
                            <a:srgbClr val="C3C2B7"/>
                          </a:solidFill>
                          <a:latin typeface="Arial"/>
                        </a:rPr>
                        <a:t>66.9%</a:t>
                      </a:r>
                    </a:p>
                  </a:txBody>
                  <a:tcPr marL="54864" marR="54864" marT="27432" marB="27432">
                    <a:solidFill>
                      <a:srgbClr val="1E1E1C"/>
                    </a:solidFill>
                  </a:tcPr>
                </a:tc>
                <a:tc>
                  <a:txBody>
                    <a:bodyPr/>
                    <a:lstStyle/>
                    <a:p>
                      <a:r>
                        <a:rPr sz="1050" b="1" i="0">
                          <a:solidFill>
                            <a:srgbClr val="FFFFFF"/>
                          </a:solidFill>
                          <a:latin typeface="Arial"/>
                        </a:rPr>
                        <a:t>69.9%, 0 flying changes</a:t>
                      </a:r>
                    </a:p>
                  </a:txBody>
                  <a:tcPr marL="54864" marR="54864" marT="27432" marB="27432">
                    <a:solidFill>
                      <a:srgbClr val="1E1E1C"/>
                    </a:solidFill>
                  </a:tcPr>
                </a:tc>
              </a:tr>
              <a:tr h="347472">
                <a:tc>
                  <a:txBody>
                    <a:bodyPr/>
                    <a:lstStyle/>
                    <a:p>
                      <a:r>
                        <a:rPr sz="1050" b="0" i="0">
                          <a:solidFill>
                            <a:srgbClr val="C3C2B7"/>
                          </a:solidFill>
                          <a:latin typeface="Arial"/>
                        </a:rPr>
                        <a:t>Expected losses · Min-risk COA</a:t>
                      </a:r>
                    </a:p>
                  </a:txBody>
                  <a:tcPr marL="54864" marR="54864" marT="27432" marB="27432">
                    <a:solidFill>
                      <a:srgbClr val="121211"/>
                    </a:solidFill>
                  </a:tcPr>
                </a:tc>
                <a:tc>
                  <a:txBody>
                    <a:bodyPr/>
                    <a:lstStyle/>
                    <a:p>
                      <a:r>
                        <a:rPr sz="1050" b="0" i="0">
                          <a:solidFill>
                            <a:srgbClr val="C3C2B7"/>
                          </a:solidFill>
                          <a:latin typeface="Arial"/>
                        </a:rPr>
                        <a:t>5.81 Max effect</a:t>
                      </a:r>
                    </a:p>
                  </a:txBody>
                  <a:tcPr marL="54864" marR="54864" marT="27432" marB="27432">
                    <a:solidFill>
                      <a:srgbClr val="121211"/>
                    </a:solidFill>
                  </a:tcPr>
                </a:tc>
                <a:tc>
                  <a:txBody>
                    <a:bodyPr/>
                    <a:lstStyle/>
                    <a:p>
                      <a:r>
                        <a:rPr sz="1050" b="1" i="0">
                          <a:solidFill>
                            <a:srgbClr val="FFFFFF"/>
                          </a:solidFill>
                          <a:latin typeface="Arial"/>
                        </a:rPr>
                        <a:t>3.01</a:t>
                      </a:r>
                    </a:p>
                  </a:txBody>
                  <a:tcPr marL="54864" marR="54864" marT="27432" marB="27432">
                    <a:solidFill>
                      <a:srgbClr val="121211"/>
                    </a:solidFill>
                  </a:tcPr>
                </a:tc>
              </a:tr>
              <a:tr h="347472">
                <a:tc>
                  <a:txBody>
                    <a:bodyPr/>
                    <a:lstStyle/>
                    <a:p>
                      <a:r>
                        <a:rPr sz="1050" b="0" i="0">
                          <a:solidFill>
                            <a:srgbClr val="C3C2B7"/>
                          </a:solidFill>
                          <a:latin typeface="Arial"/>
                        </a:rPr>
                        <a:t>HADR relief tonnage · 20 scenarios</a:t>
                      </a:r>
                    </a:p>
                  </a:txBody>
                  <a:tcPr marL="54864" marR="54864" marT="27432" marB="27432">
                    <a:solidFill>
                      <a:srgbClr val="1E1E1C"/>
                    </a:solidFill>
                  </a:tcPr>
                </a:tc>
                <a:tc>
                  <a:txBody>
                    <a:bodyPr/>
                    <a:lstStyle/>
                    <a:p>
                      <a:r>
                        <a:rPr sz="1050" b="0" i="0">
                          <a:solidFill>
                            <a:srgbClr val="C3C2B7"/>
                          </a:solidFill>
                          <a:latin typeface="Arial"/>
                        </a:rPr>
                        <a:t>81.6% manual-style</a:t>
                      </a:r>
                    </a:p>
                  </a:txBody>
                  <a:tcPr marL="54864" marR="54864" marT="27432" marB="27432">
                    <a:solidFill>
                      <a:srgbClr val="1E1E1C"/>
                    </a:solidFill>
                  </a:tcPr>
                </a:tc>
                <a:tc>
                  <a:txBody>
                    <a:bodyPr/>
                    <a:lstStyle/>
                    <a:p>
                      <a:r>
                        <a:rPr sz="1050" b="1" i="0">
                          <a:solidFill>
                            <a:srgbClr val="FFFFFF"/>
                          </a:solidFill>
                          <a:latin typeface="Arial"/>
                        </a:rPr>
                        <a:t>94.5%</a:t>
                      </a:r>
                    </a:p>
                  </a:txBody>
                  <a:tcPr marL="54864" marR="54864" marT="27432" marB="27432">
                    <a:solidFill>
                      <a:srgbClr val="1E1E1C"/>
                    </a:solidFill>
                  </a:tcPr>
                </a:tc>
              </a:tr>
            </a:tbl>
          </a:graphicData>
        </a:graphic>
      </p:graphicFrame>
      <p:sp>
        <p:nvSpPr>
          <p:cNvPr id="9" name="TextBox 8"/>
          <p:cNvSpPr txBox="1"/>
          <p:nvPr/>
        </p:nvSpPr>
        <p:spPr>
          <a:xfrm>
            <a:off x="457200" y="4379976"/>
            <a:ext cx="5943600" cy="548640"/>
          </a:xfrm>
          <a:prstGeom prst="rect">
            <a:avLst/>
          </a:prstGeom>
          <a:noFill/>
        </p:spPr>
        <p:txBody>
          <a:bodyPr wrap="square" lIns="18288" rIns="18288" tIns="18288" bIns="18288" anchor="t">
            <a:spAutoFit/>
          </a:bodyPr>
          <a:lstStyle/>
          <a:p>
            <a:pPr algn="l">
              <a:lnSpc>
                <a:spcPct val="110000"/>
              </a:lnSpc>
              <a:spcAft>
                <a:spcPts val="400"/>
              </a:spcAft>
            </a:pPr>
            <a:r>
              <a:rPr sz="1050" b="0" i="0">
                <a:solidFill>
                  <a:srgbClr val="898781"/>
                </a:solidFill>
                <a:latin typeface="Arial"/>
              </a:rPr>
              <a:t>Every plan in the tests and benchmarks passes an independent constraint checker (crew rest, stocks, reserve, weather, airspace). Plans in 4–10 s for 35–40 missions; retasks in 1–3 s.</a:t>
            </a:r>
          </a:p>
        </p:txBody>
      </p:sp>
      <p:sp>
        <p:nvSpPr>
          <p:cNvPr id="10" name="TextBox 9"/>
          <p:cNvSpPr txBox="1"/>
          <p:nvPr/>
        </p:nvSpPr>
        <p:spPr>
          <a:xfrm>
            <a:off x="6720840" y="1234440"/>
            <a:ext cx="5120640" cy="274320"/>
          </a:xfrm>
          <a:prstGeom prst="rect">
            <a:avLst/>
          </a:prstGeom>
          <a:noFill/>
        </p:spPr>
        <p:txBody>
          <a:bodyPr wrap="square" lIns="18288" rIns="18288" tIns="18288" bIns="18288" anchor="t">
            <a:spAutoFit/>
          </a:bodyPr>
          <a:lstStyle/>
          <a:p>
            <a:pPr algn="l">
              <a:lnSpc>
                <a:spcPct val="110000"/>
              </a:lnSpc>
              <a:spcAft>
                <a:spcPts val="400"/>
              </a:spcAft>
            </a:pPr>
            <a:r>
              <a:rPr sz="1100" b="1" i="0">
                <a:solidFill>
                  <a:srgbClr val="898781"/>
                </a:solidFill>
                <a:latin typeface="Arial"/>
              </a:rPr>
              <a:t>RISKS AND HOW WE HANDLE THEM</a:t>
            </a:r>
          </a:p>
        </p:txBody>
      </p:sp>
      <p:sp>
        <p:nvSpPr>
          <p:cNvPr id="11" name="Rounded Rectangle 10"/>
          <p:cNvSpPr/>
          <p:nvPr/>
        </p:nvSpPr>
        <p:spPr>
          <a:xfrm>
            <a:off x="6720840" y="1554480"/>
            <a:ext cx="5029200" cy="841248"/>
          </a:xfrm>
          <a:prstGeom prst="roundRect">
            <a:avLst>
              <a:gd name="adj" fmla="val 8000"/>
            </a:avLst>
          </a:prstGeom>
          <a:solidFill>
            <a:srgbClr val="1E1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0" y="1618488"/>
            <a:ext cx="4800600" cy="274320"/>
          </a:xfrm>
          <a:prstGeom prst="rect">
            <a:avLst/>
          </a:prstGeom>
          <a:noFill/>
        </p:spPr>
        <p:txBody>
          <a:bodyPr wrap="square" lIns="18288" rIns="18288" tIns="18288" bIns="18288" anchor="t">
            <a:spAutoFit/>
          </a:bodyPr>
          <a:lstStyle/>
          <a:p>
            <a:pPr algn="l">
              <a:lnSpc>
                <a:spcPct val="110000"/>
              </a:lnSpc>
              <a:spcAft>
                <a:spcPts val="400"/>
              </a:spcAft>
            </a:pPr>
            <a:r>
              <a:rPr sz="1200" b="1" i="0">
                <a:solidFill>
                  <a:srgbClr val="FFFFFF"/>
                </a:solidFill>
                <a:latin typeface="Arial"/>
              </a:rPr>
              <a:t>Classified data, legacy systems</a:t>
            </a:r>
          </a:p>
        </p:txBody>
      </p:sp>
      <p:sp>
        <p:nvSpPr>
          <p:cNvPr id="13" name="TextBox 12"/>
          <p:cNvSpPr txBox="1"/>
          <p:nvPr/>
        </p:nvSpPr>
        <p:spPr>
          <a:xfrm>
            <a:off x="6858000" y="1883664"/>
            <a:ext cx="4800600" cy="548640"/>
          </a:xfrm>
          <a:prstGeom prst="rect">
            <a:avLst/>
          </a:prstGeom>
          <a:noFill/>
        </p:spPr>
        <p:txBody>
          <a:bodyPr wrap="square" lIns="18288" rIns="18288" tIns="18288" bIns="18288" anchor="t">
            <a:spAutoFit/>
          </a:bodyPr>
          <a:lstStyle/>
          <a:p>
            <a:pPr algn="l">
              <a:lnSpc>
                <a:spcPct val="105000"/>
              </a:lnSpc>
              <a:spcAft>
                <a:spcPts val="400"/>
              </a:spcAft>
            </a:pPr>
            <a:r>
              <a:rPr sz="1050" b="0" i="0">
                <a:solidFill>
                  <a:srgbClr val="C3C2B7"/>
                </a:solidFill>
                <a:latin typeface="Arial"/>
              </a:rPr>
              <a:t>Adapter per source behind one world model; notional data until access; IACCS/AFNet are adapters, not a rewrite.</a:t>
            </a:r>
          </a:p>
        </p:txBody>
      </p:sp>
      <p:sp>
        <p:nvSpPr>
          <p:cNvPr id="14" name="Rounded Rectangle 13"/>
          <p:cNvSpPr/>
          <p:nvPr/>
        </p:nvSpPr>
        <p:spPr>
          <a:xfrm>
            <a:off x="6720840" y="2487168"/>
            <a:ext cx="5029200" cy="841248"/>
          </a:xfrm>
          <a:prstGeom prst="roundRect">
            <a:avLst>
              <a:gd name="adj" fmla="val 8000"/>
            </a:avLst>
          </a:prstGeom>
          <a:solidFill>
            <a:srgbClr val="1E1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0" y="2551175"/>
            <a:ext cx="4800600" cy="274320"/>
          </a:xfrm>
          <a:prstGeom prst="rect">
            <a:avLst/>
          </a:prstGeom>
          <a:noFill/>
        </p:spPr>
        <p:txBody>
          <a:bodyPr wrap="square" lIns="18288" rIns="18288" tIns="18288" bIns="18288" anchor="t">
            <a:spAutoFit/>
          </a:bodyPr>
          <a:lstStyle/>
          <a:p>
            <a:pPr algn="l">
              <a:lnSpc>
                <a:spcPct val="110000"/>
              </a:lnSpc>
              <a:spcAft>
                <a:spcPts val="400"/>
              </a:spcAft>
            </a:pPr>
            <a:r>
              <a:rPr sz="1200" b="1" i="0">
                <a:solidFill>
                  <a:srgbClr val="FFFFFF"/>
                </a:solidFill>
                <a:latin typeface="Arial"/>
              </a:rPr>
              <a:t>Trust in machine advice</a:t>
            </a:r>
          </a:p>
        </p:txBody>
      </p:sp>
      <p:sp>
        <p:nvSpPr>
          <p:cNvPr id="16" name="TextBox 15"/>
          <p:cNvSpPr txBox="1"/>
          <p:nvPr/>
        </p:nvSpPr>
        <p:spPr>
          <a:xfrm>
            <a:off x="6858000" y="2816351"/>
            <a:ext cx="4800600" cy="548640"/>
          </a:xfrm>
          <a:prstGeom prst="rect">
            <a:avLst/>
          </a:prstGeom>
          <a:noFill/>
        </p:spPr>
        <p:txBody>
          <a:bodyPr wrap="square" lIns="18288" rIns="18288" tIns="18288" bIns="18288" anchor="t">
            <a:spAutoFit/>
          </a:bodyPr>
          <a:lstStyle/>
          <a:p>
            <a:pPr algn="l">
              <a:lnSpc>
                <a:spcPct val="105000"/>
              </a:lnSpc>
              <a:spcAft>
                <a:spcPts val="400"/>
              </a:spcAft>
            </a:pPr>
            <a:r>
              <a:rPr sz="1050" b="0" i="0">
                <a:solidFill>
                  <a:srgbClr val="C3C2B7"/>
                </a:solidFill>
                <a:latin typeface="Arial"/>
              </a:rPr>
              <a:t>Nothing changes without approval; a reason for every decision; independent validator; DRDO ETAI principles.</a:t>
            </a:r>
          </a:p>
        </p:txBody>
      </p:sp>
      <p:sp>
        <p:nvSpPr>
          <p:cNvPr id="17" name="Rounded Rectangle 16"/>
          <p:cNvSpPr/>
          <p:nvPr/>
        </p:nvSpPr>
        <p:spPr>
          <a:xfrm>
            <a:off x="6720840" y="3419856"/>
            <a:ext cx="5029200" cy="841248"/>
          </a:xfrm>
          <a:prstGeom prst="roundRect">
            <a:avLst>
              <a:gd name="adj" fmla="val 8000"/>
            </a:avLst>
          </a:prstGeom>
          <a:solidFill>
            <a:srgbClr val="1E1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0" y="3483863"/>
            <a:ext cx="4800600" cy="274320"/>
          </a:xfrm>
          <a:prstGeom prst="rect">
            <a:avLst/>
          </a:prstGeom>
          <a:noFill/>
        </p:spPr>
        <p:txBody>
          <a:bodyPr wrap="square" lIns="18288" rIns="18288" tIns="18288" bIns="18288" anchor="t">
            <a:spAutoFit/>
          </a:bodyPr>
          <a:lstStyle/>
          <a:p>
            <a:pPr algn="l">
              <a:lnSpc>
                <a:spcPct val="110000"/>
              </a:lnSpc>
              <a:spcAft>
                <a:spcPts val="400"/>
              </a:spcAft>
            </a:pPr>
            <a:r>
              <a:rPr sz="1200" b="1" i="0">
                <a:solidFill>
                  <a:srgbClr val="FFFFFF"/>
                </a:solidFill>
                <a:latin typeface="Arial"/>
              </a:rPr>
              <a:t>Theatre scale</a:t>
            </a:r>
          </a:p>
        </p:txBody>
      </p:sp>
      <p:sp>
        <p:nvSpPr>
          <p:cNvPr id="19" name="TextBox 18"/>
          <p:cNvSpPr txBox="1"/>
          <p:nvPr/>
        </p:nvSpPr>
        <p:spPr>
          <a:xfrm>
            <a:off x="6858000" y="3749039"/>
            <a:ext cx="4800600" cy="548640"/>
          </a:xfrm>
          <a:prstGeom prst="rect">
            <a:avLst/>
          </a:prstGeom>
          <a:noFill/>
        </p:spPr>
        <p:txBody>
          <a:bodyPr wrap="square" lIns="18288" rIns="18288" tIns="18288" bIns="18288" anchor="t">
            <a:spAutoFit/>
          </a:bodyPr>
          <a:lstStyle/>
          <a:p>
            <a:pPr algn="l">
              <a:lnSpc>
                <a:spcPct val="105000"/>
              </a:lnSpc>
              <a:spcAft>
                <a:spcPts val="400"/>
              </a:spcAft>
            </a:pPr>
            <a:r>
              <a:rPr sz="1050" b="0" i="0">
                <a:solidFill>
                  <a:srgbClr val="C3C2B7"/>
                </a:solidFill>
                <a:latin typeface="Arial"/>
              </a:rPr>
              <a:t>Large-neighbourhood search and decomposition by sector and time; retask touches only the affected missions.</a:t>
            </a:r>
          </a:p>
        </p:txBody>
      </p:sp>
      <p:sp>
        <p:nvSpPr>
          <p:cNvPr id="20" name="Rounded Rectangle 19"/>
          <p:cNvSpPr/>
          <p:nvPr/>
        </p:nvSpPr>
        <p:spPr>
          <a:xfrm>
            <a:off x="6720840" y="4352544"/>
            <a:ext cx="5029200" cy="841248"/>
          </a:xfrm>
          <a:prstGeom prst="roundRect">
            <a:avLst>
              <a:gd name="adj" fmla="val 8000"/>
            </a:avLst>
          </a:prstGeom>
          <a:solidFill>
            <a:srgbClr val="1E1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0" y="4416552"/>
            <a:ext cx="4800600" cy="274320"/>
          </a:xfrm>
          <a:prstGeom prst="rect">
            <a:avLst/>
          </a:prstGeom>
          <a:noFill/>
        </p:spPr>
        <p:txBody>
          <a:bodyPr wrap="square" lIns="18288" rIns="18288" tIns="18288" bIns="18288" anchor="t">
            <a:spAutoFit/>
          </a:bodyPr>
          <a:lstStyle/>
          <a:p>
            <a:pPr algn="l">
              <a:lnSpc>
                <a:spcPct val="110000"/>
              </a:lnSpc>
              <a:spcAft>
                <a:spcPts val="400"/>
              </a:spcAft>
            </a:pPr>
            <a:r>
              <a:rPr sz="1200" b="1" i="0">
                <a:solidFill>
                  <a:srgbClr val="FFFFFF"/>
                </a:solidFill>
                <a:latin typeface="Arial"/>
              </a:rPr>
              <a:t>Model drift (weather, maintenance)</a:t>
            </a:r>
          </a:p>
        </p:txBody>
      </p:sp>
      <p:sp>
        <p:nvSpPr>
          <p:cNvPr id="22" name="TextBox 21"/>
          <p:cNvSpPr txBox="1"/>
          <p:nvPr/>
        </p:nvSpPr>
        <p:spPr>
          <a:xfrm>
            <a:off x="6858000" y="4681728"/>
            <a:ext cx="4800600" cy="548640"/>
          </a:xfrm>
          <a:prstGeom prst="rect">
            <a:avLst/>
          </a:prstGeom>
          <a:noFill/>
        </p:spPr>
        <p:txBody>
          <a:bodyPr wrap="square" lIns="18288" rIns="18288" tIns="18288" bIns="18288" anchor="t">
            <a:spAutoFit/>
          </a:bodyPr>
          <a:lstStyle/>
          <a:p>
            <a:pPr algn="l">
              <a:lnSpc>
                <a:spcPct val="105000"/>
              </a:lnSpc>
              <a:spcAft>
                <a:spcPts val="400"/>
              </a:spcAft>
            </a:pPr>
            <a:r>
              <a:rPr sz="1050" b="0" i="0">
                <a:solidFill>
                  <a:srgbClr val="C3C2B7"/>
                </a:solidFill>
                <a:latin typeface="Arial"/>
              </a:rPr>
              <a:t>Probabilities, not yes/no; calibrated and verified; retrained per region and season.</a:t>
            </a:r>
          </a:p>
        </p:txBody>
      </p:sp>
      <p:sp>
        <p:nvSpPr>
          <p:cNvPr id="23" name="Rounded Rectangle 22"/>
          <p:cNvSpPr/>
          <p:nvPr/>
        </p:nvSpPr>
        <p:spPr>
          <a:xfrm>
            <a:off x="6720840" y="5285231"/>
            <a:ext cx="5029200" cy="841248"/>
          </a:xfrm>
          <a:prstGeom prst="roundRect">
            <a:avLst>
              <a:gd name="adj" fmla="val 8000"/>
            </a:avLst>
          </a:prstGeom>
          <a:solidFill>
            <a:srgbClr val="1E1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0" y="5349240"/>
            <a:ext cx="4800600" cy="274320"/>
          </a:xfrm>
          <a:prstGeom prst="rect">
            <a:avLst/>
          </a:prstGeom>
          <a:noFill/>
        </p:spPr>
        <p:txBody>
          <a:bodyPr wrap="square" lIns="18288" rIns="18288" tIns="18288" bIns="18288" anchor="t">
            <a:spAutoFit/>
          </a:bodyPr>
          <a:lstStyle/>
          <a:p>
            <a:pPr algn="l">
              <a:lnSpc>
                <a:spcPct val="110000"/>
              </a:lnSpc>
              <a:spcAft>
                <a:spcPts val="400"/>
              </a:spcAft>
            </a:pPr>
            <a:r>
              <a:rPr sz="1200" b="1" i="0">
                <a:solidFill>
                  <a:srgbClr val="FFFFFF"/>
                </a:solidFill>
                <a:latin typeface="Arial"/>
              </a:rPr>
              <a:t>Degraded links (DDIL)</a:t>
            </a:r>
          </a:p>
        </p:txBody>
      </p:sp>
      <p:sp>
        <p:nvSpPr>
          <p:cNvPr id="25" name="TextBox 24"/>
          <p:cNvSpPr txBox="1"/>
          <p:nvPr/>
        </p:nvSpPr>
        <p:spPr>
          <a:xfrm>
            <a:off x="6858000" y="5614416"/>
            <a:ext cx="4800600" cy="548640"/>
          </a:xfrm>
          <a:prstGeom prst="rect">
            <a:avLst/>
          </a:prstGeom>
          <a:noFill/>
        </p:spPr>
        <p:txBody>
          <a:bodyPr wrap="square" lIns="18288" rIns="18288" tIns="18288" bIns="18288" anchor="t">
            <a:spAutoFit/>
          </a:bodyPr>
          <a:lstStyle/>
          <a:p>
            <a:pPr algn="l">
              <a:lnSpc>
                <a:spcPct val="105000"/>
              </a:lnSpc>
              <a:spcAft>
                <a:spcPts val="400"/>
              </a:spcAft>
            </a:pPr>
            <a:r>
              <a:rPr sz="1050" b="0" i="0">
                <a:solidFill>
                  <a:srgbClr val="C3C2B7"/>
                </a:solidFill>
                <a:latin typeface="Arial"/>
              </a:rPr>
              <a:t>Runs air-gapped; an edge node per base syncs on reconnect.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1211"/>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1E6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0" y="0"/>
            <a:ext cx="12191695" cy="201168"/>
          </a:xfrm>
          <a:prstGeom prst="rect">
            <a:avLst/>
          </a:prstGeom>
          <a:noFill/>
        </p:spPr>
        <p:txBody>
          <a:bodyPr wrap="square" lIns="18288" rIns="18288" tIns="18288" bIns="18288" anchor="ctr">
            <a:spAutoFit/>
          </a:bodyPr>
          <a:lstStyle/>
          <a:p>
            <a:pPr algn="ctr">
              <a:lnSpc>
                <a:spcPct val="110000"/>
              </a:lnSpc>
              <a:spcAft>
                <a:spcPts val="400"/>
              </a:spcAft>
            </a:pPr>
            <a:r>
              <a:rPr sz="900" b="1" i="0">
                <a:solidFill>
                  <a:srgbClr val="FFFFFF"/>
                </a:solidFill>
                <a:latin typeface="Arial"/>
              </a:rPr>
              <a:t>UNCLASSIFIED // EXERCISE · NOTIONAL DATA</a:t>
            </a:r>
          </a:p>
        </p:txBody>
      </p:sp>
      <p:sp>
        <p:nvSpPr>
          <p:cNvPr id="4" name="TextBox 3"/>
          <p:cNvSpPr txBox="1"/>
          <p:nvPr/>
        </p:nvSpPr>
        <p:spPr>
          <a:xfrm>
            <a:off x="457200" y="329184"/>
            <a:ext cx="8229600" cy="274320"/>
          </a:xfrm>
          <a:prstGeom prst="rect">
            <a:avLst/>
          </a:prstGeom>
          <a:noFill/>
        </p:spPr>
        <p:txBody>
          <a:bodyPr wrap="square" lIns="18288" rIns="18288" tIns="18288" bIns="18288" anchor="t">
            <a:spAutoFit/>
          </a:bodyPr>
          <a:lstStyle/>
          <a:p>
            <a:pPr algn="l">
              <a:lnSpc>
                <a:spcPct val="110000"/>
              </a:lnSpc>
              <a:spcAft>
                <a:spcPts val="400"/>
              </a:spcAft>
            </a:pPr>
            <a:r>
              <a:rPr sz="1100" b="1" i="0">
                <a:solidFill>
                  <a:srgbClr val="86B6EF"/>
                </a:solidFill>
                <a:latin typeface="Arial"/>
              </a:rPr>
              <a:t>IMPACT AND BENEFITS</a:t>
            </a:r>
          </a:p>
        </p:txBody>
      </p:sp>
      <p:sp>
        <p:nvSpPr>
          <p:cNvPr id="5" name="TextBox 4"/>
          <p:cNvSpPr txBox="1"/>
          <p:nvPr/>
        </p:nvSpPr>
        <p:spPr>
          <a:xfrm>
            <a:off x="457200" y="566928"/>
            <a:ext cx="11247120" cy="548640"/>
          </a:xfrm>
          <a:prstGeom prst="rect">
            <a:avLst/>
          </a:prstGeom>
          <a:noFill/>
        </p:spPr>
        <p:txBody>
          <a:bodyPr wrap="square" lIns="18288" rIns="18288" tIns="18288" bIns="18288" anchor="t">
            <a:spAutoFit/>
          </a:bodyPr>
          <a:lstStyle/>
          <a:p>
            <a:pPr algn="l">
              <a:lnSpc>
                <a:spcPct val="110000"/>
              </a:lnSpc>
              <a:spcAft>
                <a:spcPts val="400"/>
              </a:spcAft>
            </a:pPr>
            <a:r>
              <a:rPr sz="2600" b="1" i="0">
                <a:solidFill>
                  <a:srgbClr val="FFFFFF"/>
                </a:solidFill>
                <a:latin typeface="Arial"/>
              </a:rPr>
              <a:t>Impact and benefits</a:t>
            </a:r>
          </a:p>
        </p:txBody>
      </p:sp>
      <p:sp>
        <p:nvSpPr>
          <p:cNvPr id="6" name="TextBox 5"/>
          <p:cNvSpPr txBox="1"/>
          <p:nvPr/>
        </p:nvSpPr>
        <p:spPr>
          <a:xfrm>
            <a:off x="457200" y="6492240"/>
            <a:ext cx="7315200" cy="274320"/>
          </a:xfrm>
          <a:prstGeom prst="rect">
            <a:avLst/>
          </a:prstGeom>
          <a:noFill/>
        </p:spPr>
        <p:txBody>
          <a:bodyPr wrap="square" lIns="18288" rIns="18288" tIns="18288" bIns="18288" anchor="t">
            <a:spAutoFit/>
          </a:bodyPr>
          <a:lstStyle/>
          <a:p>
            <a:pPr algn="l">
              <a:lnSpc>
                <a:spcPct val="110000"/>
              </a:lnSpc>
              <a:spcAft>
                <a:spcPts val="400"/>
              </a:spcAft>
            </a:pPr>
            <a:r>
              <a:rPr sz="900" b="0" i="0">
                <a:solidFill>
                  <a:srgbClr val="898781"/>
                </a:solidFill>
                <a:latin typeface="Arial"/>
              </a:rPr>
              <a:t>VAYU-SARTHI · SIH 2026 · PS 26250</a:t>
            </a:r>
          </a:p>
        </p:txBody>
      </p:sp>
      <p:sp>
        <p:nvSpPr>
          <p:cNvPr id="7" name="Rounded Rectangle 6"/>
          <p:cNvSpPr/>
          <p:nvPr/>
        </p:nvSpPr>
        <p:spPr>
          <a:xfrm>
            <a:off x="457200" y="1280160"/>
            <a:ext cx="3639312" cy="2697480"/>
          </a:xfrm>
          <a:prstGeom prst="roundRect">
            <a:avLst>
              <a:gd name="adj" fmla="val 8000"/>
            </a:avLst>
          </a:prstGeom>
          <a:solidFill>
            <a:srgbClr val="1E1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371600"/>
            <a:ext cx="3291840" cy="320040"/>
          </a:xfrm>
          <a:prstGeom prst="rect">
            <a:avLst/>
          </a:prstGeom>
          <a:noFill/>
        </p:spPr>
        <p:txBody>
          <a:bodyPr wrap="square" lIns="18288" rIns="18288" tIns="18288" bIns="18288" anchor="t">
            <a:spAutoFit/>
          </a:bodyPr>
          <a:lstStyle/>
          <a:p>
            <a:pPr algn="l">
              <a:lnSpc>
                <a:spcPct val="110000"/>
              </a:lnSpc>
              <a:spcAft>
                <a:spcPts val="400"/>
              </a:spcAft>
            </a:pPr>
            <a:r>
              <a:rPr sz="1500" b="1" i="0">
                <a:solidFill>
                  <a:srgbClr val="FFFFFF"/>
                </a:solidFill>
                <a:latin typeface="Arial"/>
              </a:rPr>
              <a:t>Operational</a:t>
            </a:r>
          </a:p>
        </p:txBody>
      </p:sp>
      <p:sp>
        <p:nvSpPr>
          <p:cNvPr id="9" name="TextBox 8"/>
          <p:cNvSpPr txBox="1"/>
          <p:nvPr/>
        </p:nvSpPr>
        <p:spPr>
          <a:xfrm>
            <a:off x="621792" y="1737360"/>
            <a:ext cx="3337560" cy="2194560"/>
          </a:xfrm>
          <a:prstGeom prst="rect">
            <a:avLst/>
          </a:prstGeom>
          <a:noFill/>
        </p:spPr>
        <p:txBody>
          <a:bodyPr wrap="square" lIns="18288" rIns="18288" tIns="18288" bIns="18288" anchor="t">
            <a:spAutoFit/>
          </a:bodyPr>
          <a:lstStyle/>
          <a:p>
            <a:pPr algn="l">
              <a:lnSpc>
                <a:spcPct val="110000"/>
              </a:lnSpc>
              <a:spcAft>
                <a:spcPts val="500"/>
              </a:spcAft>
            </a:pPr>
            <a:r>
              <a:rPr sz="1150" b="0" i="0">
                <a:solidFill>
                  <a:srgbClr val="3987E5"/>
                </a:solidFill>
                <a:latin typeface="Arial"/>
              </a:rPr>
              <a:t>▪  </a:t>
            </a:r>
            <a:r>
              <a:rPr sz="1150" b="0" i="0">
                <a:solidFill>
                  <a:srgbClr val="C3C2B7"/>
                </a:solidFill>
                <a:latin typeface="Arial"/>
              </a:rPr>
              <a:t>Re-planning goes from hours to seconds, and the plan stays stable: one third of the changes</a:t>
            </a:r>
          </a:p>
          <a:p>
            <a:pPr algn="l">
              <a:lnSpc>
                <a:spcPct val="110000"/>
              </a:lnSpc>
              <a:spcAft>
                <a:spcPts val="500"/>
              </a:spcAft>
            </a:pPr>
            <a:r>
              <a:rPr sz="1150" b="0" i="0">
                <a:solidFill>
                  <a:srgbClr val="3987E5"/>
                </a:solidFill>
                <a:latin typeface="Arial"/>
              </a:rPr>
              <a:t>▪  </a:t>
            </a:r>
            <a:r>
              <a:rPr sz="1150" b="0" i="0">
                <a:solidFill>
                  <a:srgbClr val="C3C2B7"/>
                </a:solidFill>
                <a:latin typeface="Arial"/>
              </a:rPr>
              <a:t>More mission value from the same fleet: +12.4 pts fulfilment</a:t>
            </a:r>
          </a:p>
          <a:p>
            <a:pPr algn="l">
              <a:lnSpc>
                <a:spcPct val="110000"/>
              </a:lnSpc>
              <a:spcAft>
                <a:spcPts val="500"/>
              </a:spcAft>
            </a:pPr>
            <a:r>
              <a:rPr sz="1150" b="0" i="0">
                <a:solidFill>
                  <a:srgbClr val="3987E5"/>
                </a:solidFill>
                <a:latin typeface="Arial"/>
              </a:rPr>
              <a:t>▪  </a:t>
            </a:r>
            <a:r>
              <a:rPr sz="1150" b="0" i="0">
                <a:solidFill>
                  <a:srgbClr val="C3C2B7"/>
                </a:solidFill>
                <a:latin typeface="Arial"/>
              </a:rPr>
              <a:t>Safer: crew fatigue, night currency and threat risk are constraints, not afterthoughts</a:t>
            </a:r>
          </a:p>
          <a:p>
            <a:pPr algn="l">
              <a:lnSpc>
                <a:spcPct val="110000"/>
              </a:lnSpc>
              <a:spcAft>
                <a:spcPts val="500"/>
              </a:spcAft>
            </a:pPr>
            <a:r>
              <a:rPr sz="1150" b="0" i="0">
                <a:solidFill>
                  <a:srgbClr val="3987E5"/>
                </a:solidFill>
                <a:latin typeface="Arial"/>
              </a:rPr>
              <a:t>▪  </a:t>
            </a:r>
            <a:r>
              <a:rPr sz="1150" b="0" i="0">
                <a:solidFill>
                  <a:srgbClr val="C3C2B7"/>
                </a:solidFill>
                <a:latin typeface="Arial"/>
              </a:rPr>
              <a:t>A known bad day: what fails, why, and which aircraft the plan leans on</a:t>
            </a:r>
          </a:p>
        </p:txBody>
      </p:sp>
      <p:sp>
        <p:nvSpPr>
          <p:cNvPr id="10" name="Rounded Rectangle 9"/>
          <p:cNvSpPr/>
          <p:nvPr/>
        </p:nvSpPr>
        <p:spPr>
          <a:xfrm>
            <a:off x="4279392" y="1280160"/>
            <a:ext cx="3639312" cy="2697480"/>
          </a:xfrm>
          <a:prstGeom prst="roundRect">
            <a:avLst>
              <a:gd name="adj" fmla="val 8000"/>
            </a:avLst>
          </a:prstGeom>
          <a:solidFill>
            <a:srgbClr val="1E1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3983" y="1371600"/>
            <a:ext cx="3291840" cy="320040"/>
          </a:xfrm>
          <a:prstGeom prst="rect">
            <a:avLst/>
          </a:prstGeom>
          <a:noFill/>
        </p:spPr>
        <p:txBody>
          <a:bodyPr wrap="square" lIns="18288" rIns="18288" tIns="18288" bIns="18288" anchor="t">
            <a:spAutoFit/>
          </a:bodyPr>
          <a:lstStyle/>
          <a:p>
            <a:pPr algn="l">
              <a:lnSpc>
                <a:spcPct val="110000"/>
              </a:lnSpc>
              <a:spcAft>
                <a:spcPts val="400"/>
              </a:spcAft>
            </a:pPr>
            <a:r>
              <a:rPr sz="1500" b="1" i="0">
                <a:solidFill>
                  <a:srgbClr val="FFFFFF"/>
                </a:solidFill>
                <a:latin typeface="Arial"/>
              </a:rPr>
              <a:t>Resources and cost</a:t>
            </a:r>
          </a:p>
        </p:txBody>
      </p:sp>
      <p:sp>
        <p:nvSpPr>
          <p:cNvPr id="12" name="TextBox 11"/>
          <p:cNvSpPr txBox="1"/>
          <p:nvPr/>
        </p:nvSpPr>
        <p:spPr>
          <a:xfrm>
            <a:off x="4443983" y="1737360"/>
            <a:ext cx="3337560" cy="2194560"/>
          </a:xfrm>
          <a:prstGeom prst="rect">
            <a:avLst/>
          </a:prstGeom>
          <a:noFill/>
        </p:spPr>
        <p:txBody>
          <a:bodyPr wrap="square" lIns="18288" rIns="18288" tIns="18288" bIns="18288" anchor="t">
            <a:spAutoFit/>
          </a:bodyPr>
          <a:lstStyle/>
          <a:p>
            <a:pPr algn="l">
              <a:lnSpc>
                <a:spcPct val="110000"/>
              </a:lnSpc>
              <a:spcAft>
                <a:spcPts val="500"/>
              </a:spcAft>
            </a:pPr>
            <a:r>
              <a:rPr sz="1150" b="0" i="0">
                <a:solidFill>
                  <a:srgbClr val="3987E5"/>
                </a:solidFill>
                <a:latin typeface="Arial"/>
              </a:rPr>
              <a:t>▪  </a:t>
            </a:r>
            <a:r>
              <a:rPr sz="1150" b="0" i="0">
                <a:solidFill>
                  <a:srgbClr val="C3C2B7"/>
                </a:solidFill>
                <a:latin typeface="Arial"/>
              </a:rPr>
              <a:t>Sorties, tanker sorties and guided weapons are used only where they buy effect</a:t>
            </a:r>
          </a:p>
          <a:p>
            <a:pPr algn="l">
              <a:lnSpc>
                <a:spcPct val="110000"/>
              </a:lnSpc>
              <a:spcAft>
                <a:spcPts val="500"/>
              </a:spcAft>
            </a:pPr>
            <a:r>
              <a:rPr sz="1150" b="0" i="0">
                <a:solidFill>
                  <a:srgbClr val="3987E5"/>
                </a:solidFill>
                <a:latin typeface="Arial"/>
              </a:rPr>
              <a:t>▪  </a:t>
            </a:r>
            <a:r>
              <a:rPr sz="1150" b="0" i="0">
                <a:solidFill>
                  <a:srgbClr val="C3C2B7"/>
                </a:solidFill>
                <a:latin typeface="Arial"/>
              </a:rPr>
              <a:t>Commander's intent trades effect for losses and stocks explicitly (Min risk: half the expected losses)</a:t>
            </a:r>
          </a:p>
          <a:p>
            <a:pPr algn="l">
              <a:lnSpc>
                <a:spcPct val="110000"/>
              </a:lnSpc>
              <a:spcAft>
                <a:spcPts val="500"/>
              </a:spcAft>
            </a:pPr>
            <a:r>
              <a:rPr sz="1150" b="0" i="0">
                <a:solidFill>
                  <a:srgbClr val="3987E5"/>
                </a:solidFill>
                <a:latin typeface="Arial"/>
              </a:rPr>
              <a:t>▪  </a:t>
            </a:r>
            <a:r>
              <a:rPr sz="1150" b="0" i="0">
                <a:solidFill>
                  <a:srgbClr val="C3C2B7"/>
                </a:solidFill>
                <a:latin typeface="Arial"/>
              </a:rPr>
              <a:t>Idle aircraft become ground spares at no cost to the plan</a:t>
            </a:r>
          </a:p>
        </p:txBody>
      </p:sp>
      <p:sp>
        <p:nvSpPr>
          <p:cNvPr id="13" name="Rounded Rectangle 12"/>
          <p:cNvSpPr/>
          <p:nvPr/>
        </p:nvSpPr>
        <p:spPr>
          <a:xfrm>
            <a:off x="8101583" y="1280160"/>
            <a:ext cx="3639312" cy="2697480"/>
          </a:xfrm>
          <a:prstGeom prst="roundRect">
            <a:avLst>
              <a:gd name="adj" fmla="val 8000"/>
            </a:avLst>
          </a:prstGeom>
          <a:solidFill>
            <a:srgbClr val="1E1E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66175" y="1371600"/>
            <a:ext cx="3291840" cy="320040"/>
          </a:xfrm>
          <a:prstGeom prst="rect">
            <a:avLst/>
          </a:prstGeom>
          <a:noFill/>
        </p:spPr>
        <p:txBody>
          <a:bodyPr wrap="square" lIns="18288" rIns="18288" tIns="18288" bIns="18288" anchor="t">
            <a:spAutoFit/>
          </a:bodyPr>
          <a:lstStyle/>
          <a:p>
            <a:pPr algn="l">
              <a:lnSpc>
                <a:spcPct val="110000"/>
              </a:lnSpc>
              <a:spcAft>
                <a:spcPts val="400"/>
              </a:spcAft>
            </a:pPr>
            <a:r>
              <a:rPr sz="1500" b="1" i="0">
                <a:solidFill>
                  <a:srgbClr val="FFFFFF"/>
                </a:solidFill>
                <a:latin typeface="Arial"/>
              </a:rPr>
              <a:t>National and dual-use</a:t>
            </a:r>
          </a:p>
        </p:txBody>
      </p:sp>
      <p:sp>
        <p:nvSpPr>
          <p:cNvPr id="15" name="TextBox 14"/>
          <p:cNvSpPr txBox="1"/>
          <p:nvPr/>
        </p:nvSpPr>
        <p:spPr>
          <a:xfrm>
            <a:off x="8266175" y="1737360"/>
            <a:ext cx="3337560" cy="2194560"/>
          </a:xfrm>
          <a:prstGeom prst="rect">
            <a:avLst/>
          </a:prstGeom>
          <a:noFill/>
        </p:spPr>
        <p:txBody>
          <a:bodyPr wrap="square" lIns="18288" rIns="18288" tIns="18288" bIns="18288" anchor="t">
            <a:spAutoFit/>
          </a:bodyPr>
          <a:lstStyle/>
          <a:p>
            <a:pPr algn="l">
              <a:lnSpc>
                <a:spcPct val="110000"/>
              </a:lnSpc>
              <a:spcAft>
                <a:spcPts val="500"/>
              </a:spcAft>
            </a:pPr>
            <a:r>
              <a:rPr sz="1150" b="0" i="0">
                <a:solidFill>
                  <a:srgbClr val="3987E5"/>
                </a:solidFill>
                <a:latin typeface="Arial"/>
              </a:rPr>
              <a:t>▪  </a:t>
            </a:r>
            <a:r>
              <a:rPr sz="1150" b="0" i="0">
                <a:solidFill>
                  <a:srgbClr val="C3C2B7"/>
                </a:solidFill>
                <a:latin typeface="Arial"/>
              </a:rPr>
              <a:t>Same engine for flood relief: 81.6% → 94.5% of relief tonnage with the same fleet</a:t>
            </a:r>
          </a:p>
          <a:p>
            <a:pPr algn="l">
              <a:lnSpc>
                <a:spcPct val="110000"/>
              </a:lnSpc>
              <a:spcAft>
                <a:spcPts val="500"/>
              </a:spcAft>
            </a:pPr>
            <a:r>
              <a:rPr sz="1150" b="0" i="0">
                <a:solidFill>
                  <a:srgbClr val="3987E5"/>
                </a:solidFill>
                <a:latin typeface="Arial"/>
              </a:rPr>
              <a:t>▪  </a:t>
            </a:r>
            <a:r>
              <a:rPr sz="1150" b="0" i="0">
                <a:solidFill>
                  <a:srgbClr val="C3C2B7"/>
                </a:solidFill>
                <a:latin typeface="Arial"/>
              </a:rPr>
              <a:t>Rescues first; helicopters where there is no runway; flights stay in Indian airspace</a:t>
            </a:r>
          </a:p>
          <a:p>
            <a:pPr algn="l">
              <a:lnSpc>
                <a:spcPct val="110000"/>
              </a:lnSpc>
              <a:spcAft>
                <a:spcPts val="500"/>
              </a:spcAft>
            </a:pPr>
            <a:r>
              <a:rPr sz="1150" b="0" i="0">
                <a:solidFill>
                  <a:srgbClr val="3987E5"/>
                </a:solidFill>
                <a:latin typeface="Arial"/>
              </a:rPr>
              <a:t>▪  </a:t>
            </a:r>
            <a:r>
              <a:rPr sz="1150" b="0" i="0">
                <a:solidFill>
                  <a:srgbClr val="C3C2B7"/>
                </a:solidFill>
                <a:latin typeface="Arial"/>
              </a:rPr>
              <a:t>Indigenous and air-gapped: no foreign cloud or map service; runs on one laptop</a:t>
            </a:r>
          </a:p>
        </p:txBody>
      </p:sp>
      <p:sp>
        <p:nvSpPr>
          <p:cNvPr id="16" name="TextBox 15"/>
          <p:cNvSpPr txBox="1"/>
          <p:nvPr/>
        </p:nvSpPr>
        <p:spPr>
          <a:xfrm>
            <a:off x="457200" y="4069080"/>
            <a:ext cx="11247120" cy="320040"/>
          </a:xfrm>
          <a:prstGeom prst="rect">
            <a:avLst/>
          </a:prstGeom>
          <a:noFill/>
        </p:spPr>
        <p:txBody>
          <a:bodyPr wrap="square" lIns="18288" rIns="18288" tIns="18288" bIns="18288" anchor="t">
            <a:spAutoFit/>
          </a:bodyPr>
          <a:lstStyle/>
          <a:p>
            <a:pPr algn="l">
              <a:lnSpc>
                <a:spcPct val="110000"/>
              </a:lnSpc>
              <a:spcAft>
                <a:spcPts val="400"/>
              </a:spcAft>
            </a:pPr>
            <a:r>
              <a:rPr sz="1200" b="1" i="0">
                <a:solidFill>
                  <a:srgbClr val="FFFFFF"/>
                </a:solidFill>
                <a:latin typeface="Arial"/>
              </a:rPr>
              <a:t>Who uses it: </a:t>
            </a:r>
            <a:r>
              <a:rPr sz="1200" b="0" i="0">
                <a:solidFill>
                  <a:srgbClr val="C3C2B7"/>
                </a:solidFill>
                <a:latin typeface="Arial"/>
              </a:rPr>
              <a:t>air tasking order cells at Air HQ and Commands, base operations, air defence controllers, and NDMA / state disaster-response coordination during HADR.</a:t>
            </a:r>
          </a:p>
        </p:txBody>
      </p:sp>
      <p:pic>
        <p:nvPicPr>
          <p:cNvPr id="17" name="Picture 16" descr="02d-robustness.png"/>
          <p:cNvPicPr>
            <a:picLocks noChangeAspect="1"/>
          </p:cNvPicPr>
          <p:nvPr/>
        </p:nvPicPr>
        <p:blipFill>
          <a:blip r:embed="rId2"/>
          <a:srcRect l="15000" t="7000" r="15000" b="38771"/>
          <a:stretch>
            <a:fillRect/>
          </a:stretch>
        </p:blipFill>
        <p:spPr>
          <a:xfrm>
            <a:off x="457200" y="4480560"/>
            <a:ext cx="3639312" cy="1691640"/>
          </a:xfrm>
          <a:prstGeom prst="rect">
            <a:avLst/>
          </a:prstGeom>
          <a:ln w="9525">
            <a:solidFill>
              <a:srgbClr val="4A4944"/>
            </a:solidFill>
          </a:ln>
        </p:spPr>
      </p:pic>
      <p:sp>
        <p:nvSpPr>
          <p:cNvPr id="18" name="TextBox 17"/>
          <p:cNvSpPr txBox="1"/>
          <p:nvPr/>
        </p:nvSpPr>
        <p:spPr>
          <a:xfrm>
            <a:off x="457200" y="6217920"/>
            <a:ext cx="3639312" cy="274320"/>
          </a:xfrm>
          <a:prstGeom prst="rect">
            <a:avLst/>
          </a:prstGeom>
          <a:noFill/>
        </p:spPr>
        <p:txBody>
          <a:bodyPr wrap="square" lIns="18288" rIns="18288" tIns="18288" bIns="18288" anchor="t">
            <a:spAutoFit/>
          </a:bodyPr>
          <a:lstStyle/>
          <a:p>
            <a:pPr algn="l">
              <a:lnSpc>
                <a:spcPct val="110000"/>
              </a:lnSpc>
              <a:spcAft>
                <a:spcPts val="400"/>
              </a:spcAft>
            </a:pPr>
            <a:r>
              <a:rPr sz="1000" b="0" i="0">
                <a:solidFill>
                  <a:srgbClr val="898781"/>
                </a:solidFill>
                <a:latin typeface="Arial"/>
              </a:rPr>
              <a:t>Robustness: 2,000 simulated days, with and without spares</a:t>
            </a:r>
          </a:p>
        </p:txBody>
      </p:sp>
      <p:pic>
        <p:nvPicPr>
          <p:cNvPr id="19" name="Picture 18" descr="11-hadr-breach.png"/>
          <p:cNvPicPr>
            <a:picLocks noChangeAspect="1"/>
          </p:cNvPicPr>
          <p:nvPr/>
        </p:nvPicPr>
        <p:blipFill>
          <a:blip r:embed="rId3"/>
          <a:srcRect b="22529"/>
          <a:stretch>
            <a:fillRect/>
          </a:stretch>
        </p:blipFill>
        <p:spPr>
          <a:xfrm>
            <a:off x="4279392" y="4480560"/>
            <a:ext cx="3639312" cy="1691640"/>
          </a:xfrm>
          <a:prstGeom prst="rect">
            <a:avLst/>
          </a:prstGeom>
          <a:ln w="9525">
            <a:solidFill>
              <a:srgbClr val="4A4944"/>
            </a:solidFill>
          </a:ln>
        </p:spPr>
      </p:pic>
      <p:sp>
        <p:nvSpPr>
          <p:cNvPr id="20" name="TextBox 19"/>
          <p:cNvSpPr txBox="1"/>
          <p:nvPr/>
        </p:nvSpPr>
        <p:spPr>
          <a:xfrm>
            <a:off x="4279392" y="6217920"/>
            <a:ext cx="3639312" cy="274320"/>
          </a:xfrm>
          <a:prstGeom prst="rect">
            <a:avLst/>
          </a:prstGeom>
          <a:noFill/>
        </p:spPr>
        <p:txBody>
          <a:bodyPr wrap="square" lIns="18288" rIns="18288" tIns="18288" bIns="18288" anchor="t">
            <a:spAutoFit/>
          </a:bodyPr>
          <a:lstStyle/>
          <a:p>
            <a:pPr algn="l">
              <a:lnSpc>
                <a:spcPct val="110000"/>
              </a:lnSpc>
              <a:spcAft>
                <a:spcPts val="400"/>
              </a:spcAft>
            </a:pPr>
            <a:r>
              <a:rPr sz="1000" b="0" i="0">
                <a:solidFill>
                  <a:srgbClr val="898781"/>
                </a:solidFill>
                <a:latin typeface="Arial"/>
              </a:rPr>
              <a:t>Flood relief: a breach becomes a P10 rescue</a:t>
            </a:r>
          </a:p>
        </p:txBody>
      </p:sp>
      <p:pic>
        <p:nvPicPr>
          <p:cNvPr id="21" name="Picture 20" descr="05-fog-proposal-aircraft-view.png"/>
          <p:cNvPicPr>
            <a:picLocks noChangeAspect="1"/>
          </p:cNvPicPr>
          <p:nvPr/>
        </p:nvPicPr>
        <p:blipFill>
          <a:blip r:embed="rId4"/>
          <a:srcRect t="55000" r="42000" b="67"/>
          <a:stretch>
            <a:fillRect/>
          </a:stretch>
        </p:blipFill>
        <p:spPr>
          <a:xfrm>
            <a:off x="8101583" y="4480560"/>
            <a:ext cx="3639312" cy="1691640"/>
          </a:xfrm>
          <a:prstGeom prst="rect">
            <a:avLst/>
          </a:prstGeom>
          <a:ln w="9525">
            <a:solidFill>
              <a:srgbClr val="4A4944"/>
            </a:solidFill>
          </a:ln>
        </p:spPr>
      </p:pic>
      <p:sp>
        <p:nvSpPr>
          <p:cNvPr id="22" name="TextBox 21"/>
          <p:cNvSpPr txBox="1"/>
          <p:nvPr/>
        </p:nvSpPr>
        <p:spPr>
          <a:xfrm>
            <a:off x="8101583" y="6217920"/>
            <a:ext cx="3639312" cy="274320"/>
          </a:xfrm>
          <a:prstGeom prst="rect">
            <a:avLst/>
          </a:prstGeom>
          <a:noFill/>
        </p:spPr>
        <p:txBody>
          <a:bodyPr wrap="square" lIns="18288" rIns="18288" tIns="18288" bIns="18288" anchor="t">
            <a:spAutoFit/>
          </a:bodyPr>
          <a:lstStyle/>
          <a:p>
            <a:pPr algn="l">
              <a:lnSpc>
                <a:spcPct val="110000"/>
              </a:lnSpc>
              <a:spcAft>
                <a:spcPts val="400"/>
              </a:spcAft>
            </a:pPr>
            <a:r>
              <a:rPr sz="1000" b="0" i="0">
                <a:solidFill>
                  <a:srgbClr val="898781"/>
                </a:solidFill>
                <a:latin typeface="Arial"/>
              </a:rPr>
              <a:t>Aircraft lanes: closures, turnarounds, changes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21211"/>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1E6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0" y="0"/>
            <a:ext cx="12191695" cy="201168"/>
          </a:xfrm>
          <a:prstGeom prst="rect">
            <a:avLst/>
          </a:prstGeom>
          <a:noFill/>
        </p:spPr>
        <p:txBody>
          <a:bodyPr wrap="square" lIns="18288" rIns="18288" tIns="18288" bIns="18288" anchor="ctr">
            <a:spAutoFit/>
          </a:bodyPr>
          <a:lstStyle/>
          <a:p>
            <a:pPr algn="ctr">
              <a:lnSpc>
                <a:spcPct val="110000"/>
              </a:lnSpc>
              <a:spcAft>
                <a:spcPts val="400"/>
              </a:spcAft>
            </a:pPr>
            <a:r>
              <a:rPr sz="900" b="1" i="0">
                <a:solidFill>
                  <a:srgbClr val="FFFFFF"/>
                </a:solidFill>
                <a:latin typeface="Arial"/>
              </a:rPr>
              <a:t>UNCLASSIFIED // EXERCISE · NOTIONAL DATA</a:t>
            </a:r>
          </a:p>
        </p:txBody>
      </p:sp>
      <p:sp>
        <p:nvSpPr>
          <p:cNvPr id="4" name="TextBox 3"/>
          <p:cNvSpPr txBox="1"/>
          <p:nvPr/>
        </p:nvSpPr>
        <p:spPr>
          <a:xfrm>
            <a:off x="457200" y="329184"/>
            <a:ext cx="8229600" cy="274320"/>
          </a:xfrm>
          <a:prstGeom prst="rect">
            <a:avLst/>
          </a:prstGeom>
          <a:noFill/>
        </p:spPr>
        <p:txBody>
          <a:bodyPr wrap="square" lIns="18288" rIns="18288" tIns="18288" bIns="18288" anchor="t">
            <a:spAutoFit/>
          </a:bodyPr>
          <a:lstStyle/>
          <a:p>
            <a:pPr algn="l">
              <a:lnSpc>
                <a:spcPct val="110000"/>
              </a:lnSpc>
              <a:spcAft>
                <a:spcPts val="400"/>
              </a:spcAft>
            </a:pPr>
            <a:r>
              <a:rPr sz="1100" b="1" i="0">
                <a:solidFill>
                  <a:srgbClr val="86B6EF"/>
                </a:solidFill>
                <a:latin typeface="Arial"/>
              </a:rPr>
              <a:t>RESEARCH AND REFERENCES</a:t>
            </a:r>
          </a:p>
        </p:txBody>
      </p:sp>
      <p:sp>
        <p:nvSpPr>
          <p:cNvPr id="5" name="TextBox 4"/>
          <p:cNvSpPr txBox="1"/>
          <p:nvPr/>
        </p:nvSpPr>
        <p:spPr>
          <a:xfrm>
            <a:off x="457200" y="566928"/>
            <a:ext cx="11247120" cy="548640"/>
          </a:xfrm>
          <a:prstGeom prst="rect">
            <a:avLst/>
          </a:prstGeom>
          <a:noFill/>
        </p:spPr>
        <p:txBody>
          <a:bodyPr wrap="square" lIns="18288" rIns="18288" tIns="18288" bIns="18288" anchor="t">
            <a:spAutoFit/>
          </a:bodyPr>
          <a:lstStyle/>
          <a:p>
            <a:pPr algn="l">
              <a:lnSpc>
                <a:spcPct val="110000"/>
              </a:lnSpc>
              <a:spcAft>
                <a:spcPts val="400"/>
              </a:spcAft>
            </a:pPr>
            <a:r>
              <a:rPr sz="2600" b="1" i="0">
                <a:solidFill>
                  <a:srgbClr val="FFFFFF"/>
                </a:solidFill>
                <a:latin typeface="Arial"/>
              </a:rPr>
              <a:t>Research and references</a:t>
            </a:r>
          </a:p>
        </p:txBody>
      </p:sp>
      <p:sp>
        <p:nvSpPr>
          <p:cNvPr id="6" name="TextBox 5"/>
          <p:cNvSpPr txBox="1"/>
          <p:nvPr/>
        </p:nvSpPr>
        <p:spPr>
          <a:xfrm>
            <a:off x="457200" y="6492240"/>
            <a:ext cx="7315200" cy="274320"/>
          </a:xfrm>
          <a:prstGeom prst="rect">
            <a:avLst/>
          </a:prstGeom>
          <a:noFill/>
        </p:spPr>
        <p:txBody>
          <a:bodyPr wrap="square" lIns="18288" rIns="18288" tIns="18288" bIns="18288" anchor="t">
            <a:spAutoFit/>
          </a:bodyPr>
          <a:lstStyle/>
          <a:p>
            <a:pPr algn="l">
              <a:lnSpc>
                <a:spcPct val="110000"/>
              </a:lnSpc>
              <a:spcAft>
                <a:spcPts val="400"/>
              </a:spcAft>
            </a:pPr>
            <a:r>
              <a:rPr sz="900" b="0" i="0">
                <a:solidFill>
                  <a:srgbClr val="898781"/>
                </a:solidFill>
                <a:latin typeface="Arial"/>
              </a:rPr>
              <a:t>VAYU-SARTHI · SIH 2026 · PS 26250</a:t>
            </a:r>
          </a:p>
        </p:txBody>
      </p:sp>
      <p:sp>
        <p:nvSpPr>
          <p:cNvPr id="7" name="TextBox 6"/>
          <p:cNvSpPr txBox="1"/>
          <p:nvPr/>
        </p:nvSpPr>
        <p:spPr>
          <a:xfrm>
            <a:off x="457200" y="1280160"/>
            <a:ext cx="5486400" cy="5120640"/>
          </a:xfrm>
          <a:prstGeom prst="rect">
            <a:avLst/>
          </a:prstGeom>
          <a:noFill/>
        </p:spPr>
        <p:txBody>
          <a:bodyPr wrap="square" lIns="18288" rIns="18288" tIns="18288" bIns="18288" anchor="t">
            <a:spAutoFit/>
          </a:bodyPr>
          <a:lstStyle/>
          <a:p>
            <a:pPr algn="l">
              <a:lnSpc>
                <a:spcPct val="110000"/>
              </a:lnSpc>
              <a:spcAft>
                <a:spcPts val="500"/>
              </a:spcAft>
            </a:pPr>
            <a:r>
              <a:rPr sz="1100" b="1" i="0">
                <a:solidFill>
                  <a:srgbClr val="898781"/>
                </a:solidFill>
                <a:latin typeface="Arial"/>
              </a:rPr>
              <a:t>PROBLEM AND CONTEXT</a:t>
            </a:r>
          </a:p>
          <a:p>
            <a:pPr algn="l">
              <a:lnSpc>
                <a:spcPct val="110000"/>
              </a:lnSpc>
              <a:spcAft>
                <a:spcPts val="500"/>
              </a:spcAft>
            </a:pPr>
            <a:r>
              <a:rPr sz="1200" b="0" i="0">
                <a:solidFill>
                  <a:srgbClr val="3987E5"/>
                </a:solidFill>
                <a:latin typeface="Arial"/>
              </a:rPr>
              <a:t>▪  </a:t>
            </a:r>
            <a:r>
              <a:rPr sz="1200" b="0" i="0">
                <a:solidFill>
                  <a:srgbClr val="C3C2B7"/>
                </a:solidFill>
                <a:latin typeface="Arial"/>
              </a:rPr>
              <a:t>IAF AI decision-support tools for IACCS (IDRW, idrw.org/?p=383033)</a:t>
            </a:r>
          </a:p>
          <a:p>
            <a:pPr algn="l">
              <a:lnSpc>
                <a:spcPct val="110000"/>
              </a:lnSpc>
              <a:spcAft>
                <a:spcPts val="500"/>
              </a:spcAft>
            </a:pPr>
            <a:r>
              <a:rPr sz="1200" b="0" i="0">
                <a:solidFill>
                  <a:srgbClr val="3987E5"/>
                </a:solidFill>
                <a:latin typeface="Arial"/>
              </a:rPr>
              <a:t>▪  </a:t>
            </a:r>
            <a:r>
              <a:rPr sz="1200" b="0" i="0">
                <a:solidFill>
                  <a:srgbClr val="C3C2B7"/>
                </a:solidFill>
                <a:latin typeface="Arial"/>
              </a:rPr>
              <a:t>DRDO ETAI framework for trustworthy AI in defence (IndiaAI, 2024)</a:t>
            </a:r>
          </a:p>
          <a:p>
            <a:pPr algn="l">
              <a:lnSpc>
                <a:spcPct val="110000"/>
              </a:lnSpc>
              <a:spcAft>
                <a:spcPts val="500"/>
              </a:spcAft>
            </a:pPr>
            <a:r>
              <a:rPr sz="1200" b="0" i="0">
                <a:solidFill>
                  <a:srgbClr val="3987E5"/>
                </a:solidFill>
                <a:latin typeface="Arial"/>
              </a:rPr>
              <a:t>▪  </a:t>
            </a:r>
            <a:r>
              <a:rPr sz="1200" b="0" i="0">
                <a:solidFill>
                  <a:srgbClr val="C3C2B7"/>
                </a:solidFill>
                <a:latin typeface="Arial"/>
              </a:rPr>
              <a:t>DARPA Adapting Cross-Domain Kill-Webs (darpa.mil)</a:t>
            </a:r>
          </a:p>
          <a:p>
            <a:pPr algn="l">
              <a:lnSpc>
                <a:spcPct val="110000"/>
              </a:lnSpc>
              <a:spcAft>
                <a:spcPts val="500"/>
              </a:spcAft>
            </a:pPr>
            <a:r>
              <a:rPr sz="1200" b="0" i="0">
                <a:solidFill>
                  <a:srgbClr val="3987E5"/>
                </a:solidFill>
                <a:latin typeface="Arial"/>
              </a:rPr>
              <a:t>▪  </a:t>
            </a:r>
            <a:r>
              <a:rPr sz="1200" b="0" i="0">
                <a:solidFill>
                  <a:srgbClr val="C3C2B7"/>
                </a:solidFill>
                <a:latin typeface="Arial"/>
              </a:rPr>
              <a:t>Kessel Run: KRADOS and Slapshot, ATO in the cloud (Air &amp; Space Forces Magazine)</a:t>
            </a:r>
          </a:p>
          <a:p>
            <a:pPr algn="l">
              <a:lnSpc>
                <a:spcPct val="110000"/>
              </a:lnSpc>
              <a:spcAft>
                <a:spcPts val="500"/>
              </a:spcAft>
            </a:pPr>
            <a:r>
              <a:rPr sz="1200" b="0" i="0">
                <a:solidFill>
                  <a:srgbClr val="3987E5"/>
                </a:solidFill>
                <a:latin typeface="Arial"/>
              </a:rPr>
              <a:t>▪  </a:t>
            </a:r>
            <a:r>
              <a:rPr sz="1200" b="0" i="0">
                <a:solidFill>
                  <a:srgbClr val="C3C2B7"/>
                </a:solidFill>
                <a:latin typeface="Arial"/>
              </a:rPr>
              <a:t>Flexible Use of Airspace in India (ICAO APAC IP08, 2023)</a:t>
            </a:r>
          </a:p>
          <a:p>
            <a:pPr algn="l">
              <a:lnSpc>
                <a:spcPct val="110000"/>
              </a:lnSpc>
              <a:spcAft>
                <a:spcPts val="500"/>
              </a:spcAft>
            </a:pPr>
            <a:r>
              <a:rPr sz="600" b="0" i="0">
                <a:solidFill>
                  <a:srgbClr val="C3C2B7"/>
                </a:solidFill>
                <a:latin typeface="Arial"/>
              </a:rPr>
              <a:t> </a:t>
            </a:r>
          </a:p>
          <a:p>
            <a:pPr algn="l">
              <a:lnSpc>
                <a:spcPct val="110000"/>
              </a:lnSpc>
              <a:spcAft>
                <a:spcPts val="500"/>
              </a:spcAft>
            </a:pPr>
            <a:r>
              <a:rPr sz="1100" b="1" i="0">
                <a:solidFill>
                  <a:srgbClr val="898781"/>
                </a:solidFill>
                <a:latin typeface="Arial"/>
              </a:rPr>
              <a:t>METHODS</a:t>
            </a:r>
          </a:p>
          <a:p>
            <a:pPr algn="l">
              <a:lnSpc>
                <a:spcPct val="110000"/>
              </a:lnSpc>
              <a:spcAft>
                <a:spcPts val="500"/>
              </a:spcAft>
            </a:pPr>
            <a:r>
              <a:rPr sz="1200" b="0" i="0">
                <a:solidFill>
                  <a:srgbClr val="3987E5"/>
                </a:solidFill>
                <a:latin typeface="Arial"/>
              </a:rPr>
              <a:t>▪  </a:t>
            </a:r>
            <a:r>
              <a:rPr sz="1200" b="0" i="0">
                <a:solidFill>
                  <a:srgbClr val="C3C2B7"/>
                </a:solidFill>
                <a:latin typeface="Arial"/>
              </a:rPr>
              <a:t>Perron &amp; Didier, CP-SAT / Google OR-Tools (developers.google.com/optimization)</a:t>
            </a:r>
          </a:p>
          <a:p>
            <a:pPr algn="l">
              <a:lnSpc>
                <a:spcPct val="110000"/>
              </a:lnSpc>
              <a:spcAft>
                <a:spcPts val="500"/>
              </a:spcAft>
            </a:pPr>
            <a:r>
              <a:rPr sz="1200" b="0" i="0">
                <a:solidFill>
                  <a:srgbClr val="3987E5"/>
                </a:solidFill>
                <a:latin typeface="Arial"/>
              </a:rPr>
              <a:t>▪  </a:t>
            </a:r>
            <a:r>
              <a:rPr sz="1200" b="0" i="0">
                <a:solidFill>
                  <a:srgbClr val="C3C2B7"/>
                </a:solidFill>
                <a:latin typeface="Arial"/>
              </a:rPr>
              <a:t>Glahn &amp; Lowry (1972), Model Output Statistics, J. Applied Meteorology 11</a:t>
            </a:r>
          </a:p>
          <a:p>
            <a:pPr algn="l">
              <a:lnSpc>
                <a:spcPct val="110000"/>
              </a:lnSpc>
              <a:spcAft>
                <a:spcPts val="500"/>
              </a:spcAft>
            </a:pPr>
            <a:r>
              <a:rPr sz="1200" b="0" i="0">
                <a:solidFill>
                  <a:srgbClr val="3987E5"/>
                </a:solidFill>
                <a:latin typeface="Arial"/>
              </a:rPr>
              <a:t>▪  </a:t>
            </a:r>
            <a:r>
              <a:rPr sz="1200" b="0" i="0">
                <a:solidFill>
                  <a:srgbClr val="C3C2B7"/>
                </a:solidFill>
                <a:latin typeface="Arial"/>
              </a:rPr>
              <a:t>Borbély (1982), two-process model of sleep regulation, Human Neurobiology 1</a:t>
            </a:r>
          </a:p>
          <a:p>
            <a:pPr algn="l">
              <a:lnSpc>
                <a:spcPct val="110000"/>
              </a:lnSpc>
              <a:spcAft>
                <a:spcPts val="500"/>
              </a:spcAft>
            </a:pPr>
            <a:r>
              <a:rPr sz="1200" b="0" i="0">
                <a:solidFill>
                  <a:srgbClr val="3987E5"/>
                </a:solidFill>
                <a:latin typeface="Arial"/>
              </a:rPr>
              <a:t>▪  </a:t>
            </a:r>
            <a:r>
              <a:rPr sz="1200" b="0" i="0">
                <a:solidFill>
                  <a:srgbClr val="C3C2B7"/>
                </a:solidFill>
                <a:latin typeface="Arial"/>
              </a:rPr>
              <a:t>SAFTE fatigue model overview (ICAO FRMS)</a:t>
            </a:r>
          </a:p>
          <a:p>
            <a:pPr algn="l">
              <a:lnSpc>
                <a:spcPct val="110000"/>
              </a:lnSpc>
              <a:spcAft>
                <a:spcPts val="500"/>
              </a:spcAft>
            </a:pPr>
            <a:r>
              <a:rPr sz="1200" b="0" i="0">
                <a:solidFill>
                  <a:srgbClr val="3987E5"/>
                </a:solidFill>
                <a:latin typeface="Arial"/>
              </a:rPr>
              <a:t>▪  </a:t>
            </a:r>
            <a:r>
              <a:rPr sz="1200" b="0" i="0">
                <a:solidFill>
                  <a:srgbClr val="C3C2B7"/>
                </a:solidFill>
                <a:latin typeface="Arial"/>
              </a:rPr>
              <a:t>Minimal-deviation rescheduling under disruption (METU, naval task groups)</a:t>
            </a:r>
          </a:p>
        </p:txBody>
      </p:sp>
      <p:sp>
        <p:nvSpPr>
          <p:cNvPr id="8" name="TextBox 7"/>
          <p:cNvSpPr txBox="1"/>
          <p:nvPr/>
        </p:nvSpPr>
        <p:spPr>
          <a:xfrm>
            <a:off x="6309360" y="1280160"/>
            <a:ext cx="5486400" cy="5120640"/>
          </a:xfrm>
          <a:prstGeom prst="rect">
            <a:avLst/>
          </a:prstGeom>
          <a:noFill/>
        </p:spPr>
        <p:txBody>
          <a:bodyPr wrap="square" lIns="18288" rIns="18288" tIns="18288" bIns="18288" anchor="t">
            <a:spAutoFit/>
          </a:bodyPr>
          <a:lstStyle/>
          <a:p>
            <a:pPr algn="l">
              <a:lnSpc>
                <a:spcPct val="110000"/>
              </a:lnSpc>
              <a:spcAft>
                <a:spcPts val="500"/>
              </a:spcAft>
            </a:pPr>
            <a:r>
              <a:rPr sz="1100" b="1" i="0">
                <a:solidFill>
                  <a:srgbClr val="898781"/>
                </a:solidFill>
                <a:latin typeface="Arial"/>
              </a:rPr>
              <a:t>DATA (PUBLIC)</a:t>
            </a:r>
          </a:p>
          <a:p>
            <a:pPr algn="l">
              <a:lnSpc>
                <a:spcPct val="110000"/>
              </a:lnSpc>
              <a:spcAft>
                <a:spcPts val="500"/>
              </a:spcAft>
            </a:pPr>
            <a:r>
              <a:rPr sz="1200" b="0" i="0">
                <a:solidFill>
                  <a:srgbClr val="3987E5"/>
                </a:solidFill>
                <a:latin typeface="Arial"/>
              </a:rPr>
              <a:t>▪  </a:t>
            </a:r>
            <a:r>
              <a:rPr sz="1200" b="0" i="0">
                <a:solidFill>
                  <a:srgbClr val="C3C2B7"/>
                </a:solidFill>
                <a:latin typeface="Arial"/>
              </a:rPr>
              <a:t>Open-Meteo historical forecast and forecast APIs (open-meteo.com)</a:t>
            </a:r>
          </a:p>
          <a:p>
            <a:pPr algn="l">
              <a:lnSpc>
                <a:spcPct val="110000"/>
              </a:lnSpc>
              <a:spcAft>
                <a:spcPts val="500"/>
              </a:spcAft>
            </a:pPr>
            <a:r>
              <a:rPr sz="1200" b="0" i="0">
                <a:solidFill>
                  <a:srgbClr val="3987E5"/>
                </a:solidFill>
                <a:latin typeface="Arial"/>
              </a:rPr>
              <a:t>▪  </a:t>
            </a:r>
            <a:r>
              <a:rPr sz="1200" b="0" i="0">
                <a:solidFill>
                  <a:srgbClr val="C3C2B7"/>
                </a:solidFill>
                <a:latin typeface="Arial"/>
              </a:rPr>
              <a:t>Iowa Environmental Mesonet METAR archive (mesonet.agron.iastate.edu)</a:t>
            </a:r>
          </a:p>
          <a:p>
            <a:pPr algn="l">
              <a:lnSpc>
                <a:spcPct val="110000"/>
              </a:lnSpc>
              <a:spcAft>
                <a:spcPts val="500"/>
              </a:spcAft>
            </a:pPr>
            <a:r>
              <a:rPr sz="1200" b="0" i="0">
                <a:solidFill>
                  <a:srgbClr val="3987E5"/>
                </a:solidFill>
                <a:latin typeface="Arial"/>
              </a:rPr>
              <a:t>▪  </a:t>
            </a:r>
            <a:r>
              <a:rPr sz="1200" b="0" i="0">
                <a:solidFill>
                  <a:srgbClr val="C3C2B7"/>
                </a:solidFill>
                <a:latin typeface="Arial"/>
              </a:rPr>
              <a:t>Natural Earth boundaries, India point of view (naturalearthdata.com)</a:t>
            </a:r>
          </a:p>
          <a:p>
            <a:pPr algn="l">
              <a:lnSpc>
                <a:spcPct val="110000"/>
              </a:lnSpc>
              <a:spcAft>
                <a:spcPts val="500"/>
              </a:spcAft>
            </a:pPr>
            <a:r>
              <a:rPr sz="1200" b="0" i="0">
                <a:solidFill>
                  <a:srgbClr val="3987E5"/>
                </a:solidFill>
                <a:latin typeface="Arial"/>
              </a:rPr>
              <a:t>▪  </a:t>
            </a:r>
            <a:r>
              <a:rPr sz="1200" b="0" i="0">
                <a:solidFill>
                  <a:srgbClr val="C3C2B7"/>
                </a:solidFill>
                <a:latin typeface="Arial"/>
              </a:rPr>
              <a:t>Airfield and district headquarters coordinates (public)</a:t>
            </a:r>
          </a:p>
          <a:p>
            <a:pPr algn="l">
              <a:lnSpc>
                <a:spcPct val="110000"/>
              </a:lnSpc>
              <a:spcAft>
                <a:spcPts val="500"/>
              </a:spcAft>
            </a:pPr>
            <a:r>
              <a:rPr sz="600" b="0" i="0">
                <a:solidFill>
                  <a:srgbClr val="C3C2B7"/>
                </a:solidFill>
                <a:latin typeface="Arial"/>
              </a:rPr>
              <a:t> </a:t>
            </a:r>
          </a:p>
          <a:p>
            <a:pPr algn="l">
              <a:lnSpc>
                <a:spcPct val="110000"/>
              </a:lnSpc>
              <a:spcAft>
                <a:spcPts val="500"/>
              </a:spcAft>
            </a:pPr>
            <a:r>
              <a:rPr sz="1100" b="1" i="0">
                <a:solidFill>
                  <a:srgbClr val="898781"/>
                </a:solidFill>
                <a:latin typeface="Arial"/>
              </a:rPr>
              <a:t>THIS SUBMISSION</a:t>
            </a:r>
          </a:p>
          <a:p>
            <a:pPr algn="l">
              <a:lnSpc>
                <a:spcPct val="110000"/>
              </a:lnSpc>
              <a:spcAft>
                <a:spcPts val="500"/>
              </a:spcAft>
            </a:pPr>
            <a:r>
              <a:rPr sz="1200" b="0" i="0">
                <a:solidFill>
                  <a:srgbClr val="3987E5"/>
                </a:solidFill>
                <a:latin typeface="Arial"/>
              </a:rPr>
              <a:t>▪  </a:t>
            </a:r>
            <a:r>
              <a:rPr sz="1200" b="0" i="0">
                <a:solidFill>
                  <a:srgbClr val="C3C2B7"/>
                </a:solidFill>
                <a:latin typeface="Arial"/>
              </a:rPr>
              <a:t>Working prototype: engine, map, synchronisation matrix, retask review, why-not and what-it-would-take, fog forecast, COAs, robustness, HADR</a:t>
            </a:r>
          </a:p>
          <a:p>
            <a:pPr algn="l">
              <a:lnSpc>
                <a:spcPct val="110000"/>
              </a:lnSpc>
              <a:spcAft>
                <a:spcPts val="500"/>
              </a:spcAft>
            </a:pPr>
            <a:r>
              <a:rPr sz="1200" b="0" i="0">
                <a:solidFill>
                  <a:srgbClr val="3987E5"/>
                </a:solidFill>
                <a:latin typeface="Arial"/>
              </a:rPr>
              <a:t>▪  </a:t>
            </a:r>
            <a:r>
              <a:rPr sz="1200" b="0" i="0">
                <a:solidFill>
                  <a:srgbClr val="C3C2B7"/>
                </a:solidFill>
                <a:latin typeface="Arial"/>
              </a:rPr>
              <a:t>Design and roadmap: docs/PLAN.md · all scenario data notional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
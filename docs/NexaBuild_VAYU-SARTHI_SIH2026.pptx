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1100" b="1" i="0">
                <a:solidFill>
                  <a:srgbClr val="1C2E4A"/>
                </a:solidFill>
                <a:latin typeface="Arial"/>
              </a:rPr>
              <a:t>Mission fulfilment, same fleet and rules (20 scenarios each)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Manual-style planner</c:v>
                </c:pt>
              </c:strCache>
            </c:strRef>
          </c:tx>
          <c:spPr>
            <a:solidFill>
              <a:srgbClr val="A9B1BD"/>
            </a:solidFill>
          </c:spPr>
          <c:cat>
            <c:strRef>
              <c:f>Sheet1!$A$2:$A$4</c:f>
              <c:strCache>
                <c:ptCount val="3"/>
                <c:pt idx="0">
                  <c:v>Western front</c:v>
                </c:pt>
                <c:pt idx="1">
                  <c:v>Flood relief</c:v>
                </c:pt>
                <c:pt idx="2">
                  <c:v>Earthquake relief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85.1</c:v>
                </c:pt>
                <c:pt idx="1">
                  <c:v>85.1</c:v>
                </c:pt>
                <c:pt idx="2">
                  <c:v>79.2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VAYU-SARTHI</c:v>
                </c:pt>
              </c:strCache>
            </c:strRef>
          </c:tx>
          <c:spPr>
            <a:solidFill>
              <a:srgbClr val="1C2E4A"/>
            </a:solidFill>
          </c:spPr>
          <c:cat>
            <c:strRef>
              <c:f>Sheet1!$A$2:$A$4</c:f>
              <c:strCache>
                <c:ptCount val="3"/>
                <c:pt idx="0">
                  <c:v>Western front</c:v>
                </c:pt>
                <c:pt idx="1">
                  <c:v>Flood relief</c:v>
                </c:pt>
                <c:pt idx="2">
                  <c:v>Earthquake relief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97.5</c:v>
                </c:pt>
                <c:pt idx="1">
                  <c:v>96.3</c:v>
                </c:pt>
                <c:pt idx="2">
                  <c:v>87.6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9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50">
          <a:solidFill>
            <a:srgbClr val="1C2E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idrw.org/?p=383033" TargetMode="External"/><Relationship Id="rId5" Type="http://schemas.openxmlformats.org/officeDocument/2006/relationships/hyperlink" Target="https://indiaai.gov.in/news/trustworthy-ai-framework-launched-for-critical-defence-operations" TargetMode="External"/><Relationship Id="rId6" Type="http://schemas.openxmlformats.org/officeDocument/2006/relationships/hyperlink" Target="https://www.airandspaceforces.com/afcent-can-now-generate-air-tasking-orders-in-the-cloud/" TargetMode="External"/><Relationship Id="rId7" Type="http://schemas.openxmlformats.org/officeDocument/2006/relationships/hyperlink" Target="https://www.darpa.mil/research/programs/adapting-cross-domain-kill-webs" TargetMode="External"/><Relationship Id="rId8" Type="http://schemas.openxmlformats.org/officeDocument/2006/relationships/hyperlink" Target="https://developers.google.com/optimization" TargetMode="External"/><Relationship Id="rId9" Type="http://schemas.openxmlformats.org/officeDocument/2006/relationships/hyperlink" Target="https://doi.org/10.1175/1520-0450(1972)011%3C1203:TUOMOS%3E2.0.CO;2" TargetMode="External"/><Relationship Id="rId10" Type="http://schemas.openxmlformats.org/officeDocument/2006/relationships/hyperlink" Target="https://www.icao.int/sites/default/files/sp-files/SAM/Documents/2012/FRMS11/FRMS%20GIG%20Modeling%20Presentation.pdf" TargetMode="External"/><Relationship Id="rId11" Type="http://schemas.openxmlformats.org/officeDocument/2006/relationships/hyperlink" Target="https://avesis.metu.edu.tr/yayin/0895632c-7f5a-4e9b-abe3-de5753c8eec2/bi-objective-missile-rescheduling-for-a-naval-task-group-with-dynamic-disruptions" TargetMode="External"/><Relationship Id="rId12" Type="http://schemas.openxmlformats.org/officeDocument/2006/relationships/hyperlink" Target="https://open-meteo.com" TargetMode="External"/><Relationship Id="rId13" Type="http://schemas.openxmlformats.org/officeDocument/2006/relationships/hyperlink" Target="https://www.icao.int/sites/default/files/APAC/Meetings/2023/2023%20SAIOSEACG%202/4-Information%20Papers/IP08-Benefits-of-Flexible-Use-of-Airspace-in-India.pdf" TargetMode="External"/><Relationship Id="rId14" Type="http://schemas.openxmlformats.org/officeDocument/2006/relationships/hyperlink" Target="https://github.com/DeepakSinghhh/Air-power-Dynam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4048" y="1024128"/>
            <a:ext cx="5212080" cy="1234440"/>
          </a:xfrm>
        </p:spPr>
        <p:txBody>
          <a:bodyPr wrap="square"/>
          <a:lstStyle/>
          <a:p>
            <a:pPr algn="l"/>
            <a:r>
              <a:rPr sz="3400" b="1" i="0">
                <a:solidFill>
                  <a:srgbClr val="1F497D"/>
                </a:solidFill>
                <a:latin typeface="Times New Roman"/>
              </a:rPr>
              <a:t>VAYU-SARTHI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55F6E"/>
                </a:solidFill>
                <a:latin typeface="Arial"/>
              </a:rPr>
              <a:t>Plans the air tasking day, and re-plans it in seconds when something changes, moving as few aircraft as possible.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395728"/>
            <a:ext cx="52578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C2E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1700" b="0" i="0">
                <a:solidFill>
                  <a:srgbClr val="1C2E4A"/>
                </a:solidFill>
                <a:latin typeface="Arial"/>
              </a:rPr>
              <a:t>26250</a:t>
            </a:r>
          </a:p>
          <a:p>
            <a:pPr marL="285750" indent="-285750" algn="l">
              <a:lnSpc>
                <a:spcPct val="12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C2E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1700" b="0" i="0">
                <a:solidFill>
                  <a:srgbClr val="1C2E4A"/>
                </a:solidFill>
                <a:latin typeface="Arial"/>
              </a:rPr>
              <a:t>Air Power: Dynamic Air Operations &amp; Resource Optimisation</a:t>
            </a:r>
          </a:p>
          <a:p>
            <a:pPr marL="285750" indent="-285750" algn="l">
              <a:lnSpc>
                <a:spcPct val="12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C2E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1700" b="0" i="0">
                <a:solidFill>
                  <a:srgbClr val="1C2E4A"/>
                </a:solidFill>
                <a:latin typeface="Arial"/>
              </a:rPr>
              <a:t>Transportation &amp; Logistics</a:t>
            </a:r>
          </a:p>
          <a:p>
            <a:pPr marL="285750" indent="-285750" algn="l">
              <a:lnSpc>
                <a:spcPct val="12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C2E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1700" b="0" i="0">
                <a:solidFill>
                  <a:srgbClr val="1C2E4A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2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C2E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</a:p>
          <a:p>
            <a:pPr marL="285750" indent="-285750" algn="l">
              <a:lnSpc>
                <a:spcPct val="12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C2E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sz="1700" b="1" i="0">
                <a:solidFill>
                  <a:srgbClr val="1F497D"/>
                </a:solidFill>
                <a:latin typeface="Arial"/>
              </a:rPr>
              <a:t>NexaBuild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VAYU-SARTHI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rgbClr val="1F497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300" b="1">
                <a:solidFill>
                  <a:srgbClr val="1C2E4A"/>
                </a:solidFill>
                <a:latin typeface="Arial"/>
              </a:rPr>
              <a:t>NexaBuild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29184" indent="-329184">
              <a:buClr>
                <a:srgbClr val="C2561A"/>
              </a:buClr>
              <a:buFont typeface="Wingdings" pitchFamily="2" charset="2"/>
              <a:buChar char="v"/>
            </a:pPr>
            <a:r>
              <a:rPr sz="180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Oval 15362"/>
          <p:cNvSpPr/>
          <p:nvPr/>
        </p:nvSpPr>
        <p:spPr>
          <a:xfrm>
            <a:off x="411480" y="1645920"/>
            <a:ext cx="292608" cy="292608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822960" y="165506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C2E4A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822960" y="1956816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Aft>
                <a:spcPts val="30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One live picture: aircraft, crews, weapons, weather, threats</a:t>
            </a:r>
          </a:p>
          <a:p>
            <a:pPr algn="l" marL="155448" indent="-155448">
              <a:spcAft>
                <a:spcPts val="30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Builds the full air tasking plan for the day in under 10 s</a:t>
            </a:r>
          </a:p>
          <a:p>
            <a:pPr algn="l" marL="155448" indent="-155448">
              <a:spcAft>
                <a:spcPts val="30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When something changes, proposes the </a:t>
            </a:r>
            <a:r>
              <a:rPr sz="1200" b="1" i="0">
                <a:solidFill>
                  <a:srgbClr val="1C2E4A"/>
                </a:solidFill>
                <a:latin typeface="Arial"/>
              </a:rPr>
              <a:t>smallest fix</a:t>
            </a:r>
            <a:r>
              <a:rPr sz="1200" b="0" i="0">
                <a:solidFill>
                  <a:srgbClr val="1C2E4A"/>
                </a:solidFill>
                <a:latin typeface="Arial"/>
              </a:rPr>
              <a:t> as a diff</a:t>
            </a:r>
          </a:p>
          <a:p>
            <a:pPr algn="l" marL="155448" indent="-155448">
              <a:spcAft>
                <a:spcPts val="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The commander approves or rejects; nothing moves on its own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411480" y="3072384"/>
            <a:ext cx="292608" cy="292608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822960" y="308152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C2E4A"/>
                </a:solidFill>
                <a:latin typeface="Arial"/>
              </a:rPr>
              <a:t>How it addresses the problem</a:t>
            </a:r>
          </a:p>
        </p:txBody>
      </p:sp>
      <p:graphicFrame>
        <p:nvGraphicFramePr>
          <p:cNvPr id="15368" name="Table 15367"/>
          <p:cNvGraphicFramePr>
            <a:graphicFrameLocks noGrp="1"/>
          </p:cNvGraphicFramePr>
          <p:nvPr/>
        </p:nvGraphicFramePr>
        <p:xfrm>
          <a:off x="822960" y="3401568"/>
          <a:ext cx="5212080" cy="1371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664208"/>
                <a:gridCol w="354787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The problem asks for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VAYU-SARTHI does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1C2E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E4A"/>
                          </a:solidFill>
                          <a:latin typeface="Arial"/>
                        </a:rPr>
                        <a:t>Dynamic retasking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Re-plans in ~3 s; the rest of the plan stays put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E4A"/>
                          </a:solidFill>
                          <a:latin typeface="Arial"/>
                        </a:rPr>
                        <a:t>Resource optimisation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One model: aircraft, crew rest, weapons, tankers, reserve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E4A"/>
                          </a:solidFill>
                          <a:latin typeface="Arial"/>
                        </a:rPr>
                        <a:t>Weather, uncertainty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Fog forecast from real airport data; 2,000 simulated days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E4A"/>
                          </a:solidFill>
                          <a:latin typeface="Arial"/>
                        </a:rPr>
                        <a:t>Decision support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Gives a reason for each choice; a human approves it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5369" name="Oval 15368"/>
          <p:cNvSpPr/>
          <p:nvPr/>
        </p:nvSpPr>
        <p:spPr>
          <a:xfrm>
            <a:off x="411480" y="4983480"/>
            <a:ext cx="292608" cy="292608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22960" y="499262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C2E4A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22960" y="529437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Changes as little as possible: a diff, not a brand-new plan</a:t>
            </a:r>
          </a:p>
          <a:p>
            <a:pPr algn="l" marL="155448" indent="-155448">
              <a:spcAft>
                <a:spcPts val="20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Says what it would take to fit any mission it had to drop</a:t>
            </a:r>
          </a:p>
          <a:p>
            <a:pPr algn="l" marL="155448" indent="-155448">
              <a:spcAft>
                <a:spcPts val="20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Plain-language copilot that answers only from the engine</a:t>
            </a:r>
          </a:p>
          <a:p>
            <a:pPr algn="l" marL="155448" indent="-155448">
              <a:spcAft>
                <a:spcPts val="0"/>
              </a:spcAft>
              <a:buClr>
                <a:srgbClr val="C2561A"/>
              </a:buClr>
              <a:buFont typeface="Arial"/>
              <a:buChar char="•"/>
            </a:pPr>
            <a:r>
              <a:rPr sz="1200" b="0" i="0">
                <a:solidFill>
                  <a:srgbClr val="1C2E4A"/>
                </a:solidFill>
                <a:latin typeface="Arial"/>
              </a:rPr>
              <a:t>Runs offline on one laptop; also plans flood and earthquake relief</a:t>
            </a:r>
          </a:p>
        </p:txBody>
      </p:sp>
      <p:pic>
        <p:nvPicPr>
          <p:cNvPr id="15372" name="Picture 15371" descr="retas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45920"/>
            <a:ext cx="5513832" cy="3434570"/>
          </a:xfrm>
          <a:prstGeom prst="rect">
            <a:avLst/>
          </a:prstGeom>
          <a:ln w="9525">
            <a:solidFill>
              <a:srgbClr val="D3D9E1"/>
            </a:solidFill>
          </a:ln>
        </p:spPr>
      </p:pic>
      <p:sp>
        <p:nvSpPr>
          <p:cNvPr id="15373" name="Oval 15372"/>
          <p:cNvSpPr/>
          <p:nvPr/>
        </p:nvSpPr>
        <p:spPr>
          <a:xfrm>
            <a:off x="7620686" y="2417910"/>
            <a:ext cx="274320" cy="274320"/>
          </a:xfrm>
          <a:prstGeom prst="ellipse">
            <a:avLst/>
          </a:prstGeom>
          <a:solidFill>
            <a:srgbClr val="C2561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74" name="Oval 15373"/>
          <p:cNvSpPr/>
          <p:nvPr/>
        </p:nvSpPr>
        <p:spPr>
          <a:xfrm>
            <a:off x="10040879" y="1954917"/>
            <a:ext cx="274320" cy="274320"/>
          </a:xfrm>
          <a:prstGeom prst="ellipse">
            <a:avLst/>
          </a:prstGeom>
          <a:solidFill>
            <a:srgbClr val="C2561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5" name="Oval 15374"/>
          <p:cNvSpPr/>
          <p:nvPr/>
        </p:nvSpPr>
        <p:spPr>
          <a:xfrm>
            <a:off x="10104015" y="2613630"/>
            <a:ext cx="274320" cy="274320"/>
          </a:xfrm>
          <a:prstGeom prst="ellipse">
            <a:avLst/>
          </a:prstGeom>
          <a:solidFill>
            <a:srgbClr val="C2561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7136647" y="4438246"/>
            <a:ext cx="274320" cy="274320"/>
          </a:xfrm>
          <a:prstGeom prst="ellipse">
            <a:avLst/>
          </a:prstGeom>
          <a:solidFill>
            <a:srgbClr val="C2561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77" name="Oval 15376"/>
          <p:cNvSpPr/>
          <p:nvPr/>
        </p:nvSpPr>
        <p:spPr>
          <a:xfrm>
            <a:off x="6263640" y="5208506"/>
            <a:ext cx="182880" cy="182880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6537959" y="5190218"/>
            <a:ext cx="5239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A SAM pops up on STK-01's route; old routes show dashed</a:t>
            </a:r>
          </a:p>
        </p:txBody>
      </p:sp>
      <p:sp>
        <p:nvSpPr>
          <p:cNvPr id="15379" name="Oval 15378"/>
          <p:cNvSpPr/>
          <p:nvPr/>
        </p:nvSpPr>
        <p:spPr>
          <a:xfrm>
            <a:off x="6263640" y="5446250"/>
            <a:ext cx="182880" cy="182880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537959" y="5427962"/>
            <a:ext cx="5239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Proposal: 2 strikes re-routed, 0 aircraft swapped (a fresh re-plan swaps 32)</a:t>
            </a:r>
          </a:p>
        </p:txBody>
      </p:sp>
      <p:sp>
        <p:nvSpPr>
          <p:cNvPr id="15381" name="Oval 15380"/>
          <p:cNvSpPr/>
          <p:nvPr/>
        </p:nvSpPr>
        <p:spPr>
          <a:xfrm>
            <a:off x="6263640" y="5683994"/>
            <a:ext cx="182880" cy="182880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6537959" y="5665706"/>
            <a:ext cx="5239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The commander approves or rejects, 1.7 s after the alert</a:t>
            </a:r>
          </a:p>
        </p:txBody>
      </p:sp>
      <p:sp>
        <p:nvSpPr>
          <p:cNvPr id="15383" name="Oval 15382"/>
          <p:cNvSpPr/>
          <p:nvPr/>
        </p:nvSpPr>
        <p:spPr>
          <a:xfrm>
            <a:off x="6263640" y="5921738"/>
            <a:ext cx="182880" cy="182880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6537959" y="5903450"/>
            <a:ext cx="5239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Synchronisation matrix: every sortie's timing, before and 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rgbClr val="1F497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300" b="1">
                <a:solidFill>
                  <a:srgbClr val="1C2E4A"/>
                </a:solidFill>
                <a:latin typeface="Arial"/>
              </a:rPr>
              <a:t>NexaBuild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buClr>
                <a:srgbClr val="C2561A"/>
              </a:buClr>
              <a:buFont typeface="Wingdings" pitchFamily="2" charset="2"/>
              <a:buChar char="v"/>
            </a:pPr>
            <a:r>
              <a:rPr sz="1400" b="1" i="0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44752"/>
            <a:ext cx="2126894" cy="932688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21208" y="1517904"/>
            <a:ext cx="139537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561A"/>
                </a:solidFill>
                <a:latin typeface="Arial"/>
              </a:rPr>
              <a:t>DECISION ENGINE</a:t>
            </a:r>
          </a:p>
        </p:txBody>
      </p:sp>
      <p:pic>
        <p:nvPicPr>
          <p:cNvPr id="17413" name="Picture 17412" descr="goo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902" y="1499616"/>
            <a:ext cx="237744" cy="237744"/>
          </a:xfrm>
          <a:prstGeom prst="rect">
            <a:avLst/>
          </a:prstGeom>
        </p:spPr>
      </p:pic>
      <p:pic>
        <p:nvPicPr>
          <p:cNvPr id="17414" name="Picture 17413" descr="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294" y="1499616"/>
            <a:ext cx="237744" cy="237744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521208" y="1801368"/>
            <a:ext cx="19074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Python 3.13 · Google OR-Tools CP-SAT · NumPy / SciPy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721254" y="1444752"/>
            <a:ext cx="2126894" cy="932688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2830982" y="1517904"/>
            <a:ext cx="139537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561A"/>
                </a:solidFill>
                <a:latin typeface="Arial"/>
              </a:rPr>
              <a:t>FORECASTING</a:t>
            </a:r>
          </a:p>
        </p:txBody>
      </p:sp>
      <p:pic>
        <p:nvPicPr>
          <p:cNvPr id="17418" name="Picture 17417" descr="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676" y="1499616"/>
            <a:ext cx="237744" cy="23774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830982" y="1801368"/>
            <a:ext cx="19074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Open-Meteo weather model + airport METARs → fog model (logistic MOS)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31028" y="1444752"/>
            <a:ext cx="2126894" cy="932688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5140756" y="1517904"/>
            <a:ext cx="139537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561A"/>
                </a:solidFill>
                <a:latin typeface="Arial"/>
              </a:rPr>
              <a:t>SERVICE</a:t>
            </a:r>
          </a:p>
        </p:txBody>
      </p:sp>
      <p:pic>
        <p:nvPicPr>
          <p:cNvPr id="17422" name="Picture 17421" descr="pydant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451" y="1499616"/>
            <a:ext cx="237744" cy="237744"/>
          </a:xfrm>
          <a:prstGeom prst="rect">
            <a:avLst/>
          </a:prstGeom>
        </p:spPr>
      </p:pic>
      <p:pic>
        <p:nvPicPr>
          <p:cNvPr id="17423" name="Picture 17422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7843" y="1499616"/>
            <a:ext cx="237744" cy="237744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5140756" y="1801368"/>
            <a:ext cx="19074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FastAPI REST service · Pydantic data model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340803" y="1444752"/>
            <a:ext cx="2126894" cy="932688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7450531" y="1517904"/>
            <a:ext cx="139537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561A"/>
                </a:solidFill>
                <a:latin typeface="Arial"/>
              </a:rPr>
              <a:t>INTERFACE</a:t>
            </a:r>
          </a:p>
        </p:txBody>
      </p:sp>
      <p:pic>
        <p:nvPicPr>
          <p:cNvPr id="17427" name="Picture 17426" descr="typescrip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0225" y="1499616"/>
            <a:ext cx="237744" cy="237744"/>
          </a:xfrm>
          <a:prstGeom prst="rect">
            <a:avLst/>
          </a:prstGeom>
        </p:spPr>
      </p:pic>
      <p:pic>
        <p:nvPicPr>
          <p:cNvPr id="17428" name="Picture 17427" descr="re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7617" y="1499616"/>
            <a:ext cx="237744" cy="23774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7450531" y="1801368"/>
            <a:ext cx="19074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React + TypeScript · deck.gl map, offline, India's official boundary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650577" y="1444752"/>
            <a:ext cx="2126894" cy="932688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9760305" y="1517904"/>
            <a:ext cx="139537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561A"/>
                </a:solidFill>
                <a:latin typeface="Arial"/>
              </a:rPr>
              <a:t>COPILOT · HARDWARE</a:t>
            </a:r>
          </a:p>
        </p:txBody>
      </p:sp>
      <p:pic>
        <p:nvPicPr>
          <p:cNvPr id="17432" name="Picture 17431" descr="lapt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29999" y="1499616"/>
            <a:ext cx="237744" cy="237744"/>
          </a:xfrm>
          <a:prstGeom prst="rect">
            <a:avLst/>
          </a:prstGeom>
        </p:spPr>
      </p:pic>
      <p:pic>
        <p:nvPicPr>
          <p:cNvPr id="17433" name="Picture 17432" descr="olla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7391" y="1499616"/>
            <a:ext cx="237744" cy="237744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9760305" y="1801368"/>
            <a:ext cx="19074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Local open-weight LLM via Ollama (optional) · one laptop, no internet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11480" y="2542032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buClr>
                <a:srgbClr val="C2561A"/>
              </a:buClr>
              <a:buFont typeface="Wingdings" pitchFamily="2" charset="2"/>
              <a:buChar char="v"/>
            </a:pPr>
            <a:r>
              <a:rPr sz="1400" b="1" i="0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11480" y="2926080"/>
            <a:ext cx="6858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55F6E"/>
                </a:solidFill>
                <a:latin typeface="Arial"/>
              </a:rPr>
              <a:t>INPUTS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1143000" y="2926080"/>
            <a:ext cx="11750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0" i="0">
                <a:solidFill>
                  <a:srgbClr val="1C2E4A"/>
                </a:solidFill>
                <a:latin typeface="Arial"/>
              </a:rPr>
              <a:t>Aircraft status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2409444" y="2926080"/>
            <a:ext cx="969263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0" i="0">
                <a:solidFill>
                  <a:srgbClr val="1C2E4A"/>
                </a:solidFill>
                <a:latin typeface="Arial"/>
              </a:rPr>
              <a:t>Crew rosters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470148" y="2926080"/>
            <a:ext cx="12435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0" i="0">
                <a:solidFill>
                  <a:srgbClr val="1C2E4A"/>
                </a:solidFill>
                <a:latin typeface="Arial"/>
              </a:rPr>
              <a:t>Weapons &amp; stocks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805172" y="2926080"/>
            <a:ext cx="6263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0" i="0">
                <a:solidFill>
                  <a:srgbClr val="1C2E4A"/>
                </a:solidFill>
                <a:latin typeface="Arial"/>
              </a:rPr>
              <a:t>Weather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522976" y="2926080"/>
            <a:ext cx="969263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0" i="0">
                <a:solidFill>
                  <a:srgbClr val="1C2E4A"/>
                </a:solidFill>
                <a:latin typeface="Arial"/>
              </a:rPr>
              <a:t>Threat intel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583680" y="2926080"/>
            <a:ext cx="69494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0" i="0">
                <a:solidFill>
                  <a:srgbClr val="1C2E4A"/>
                </a:solidFill>
                <a:latin typeface="Arial"/>
              </a:rPr>
              <a:t>Airspace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370064" y="2926080"/>
            <a:ext cx="9006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0" i="0">
                <a:solidFill>
                  <a:srgbClr val="1C2E4A"/>
                </a:solidFill>
                <a:latin typeface="Arial"/>
              </a:rPr>
              <a:t>New tasking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3759098" y="3182112"/>
            <a:ext cx="0" cy="146304"/>
          </a:xfrm>
          <a:prstGeom prst="line">
            <a:avLst/>
          </a:prstGeom>
          <a:ln w="15875">
            <a:solidFill>
              <a:srgbClr val="A9B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411480" y="3346704"/>
            <a:ext cx="2024481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521208" y="3465576"/>
            <a:ext cx="310896" cy="310896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905256" y="3438144"/>
            <a:ext cx="145755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C2E4A"/>
                </a:solidFill>
                <a:latin typeface="Arial"/>
              </a:rPr>
              <a:t>Something changes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521208" y="3895344"/>
            <a:ext cx="180502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Fog forecast, an aircraft goes U/S, a pop-up SAM or new tasking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521208" y="4617720"/>
            <a:ext cx="180502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2561A"/>
                </a:solidFill>
                <a:latin typeface="Arial"/>
              </a:rPr>
              <a:t>event feed · fog model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2472537" y="4133088"/>
            <a:ext cx="237744" cy="0"/>
          </a:xfrm>
          <a:prstGeom prst="line">
            <a:avLst/>
          </a:prstGeom>
          <a:ln w="22225">
            <a:solidFill>
              <a:srgbClr val="555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TextBox 17450"/>
          <p:cNvSpPr txBox="1"/>
          <p:nvPr/>
        </p:nvSpPr>
        <p:spPr>
          <a:xfrm>
            <a:off x="457200" y="5010912"/>
            <a:ext cx="19330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55F6E"/>
                </a:solidFill>
                <a:latin typeface="Arial"/>
              </a:rPr>
              <a:t>e.g. a SAM pops up on STK-01's route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2746857" y="3346704"/>
            <a:ext cx="2024481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Oval 17452"/>
          <p:cNvSpPr/>
          <p:nvPr/>
        </p:nvSpPr>
        <p:spPr>
          <a:xfrm>
            <a:off x="2856585" y="3465576"/>
            <a:ext cx="310896" cy="310896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3240633" y="3438144"/>
            <a:ext cx="145755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C2E4A"/>
                </a:solidFill>
                <a:latin typeface="Arial"/>
              </a:rPr>
              <a:t>Check what is possible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2856585" y="3895344"/>
            <a:ext cx="180502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Which aircraft, crews, weapons and safe routes can still make each mission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2856585" y="4617720"/>
            <a:ext cx="180502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2561A"/>
                </a:solidFill>
                <a:latin typeface="Arial"/>
              </a:rPr>
              <a:t>routing · fatigue model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4807915" y="4133088"/>
            <a:ext cx="237744" cy="0"/>
          </a:xfrm>
          <a:prstGeom prst="line">
            <a:avLst/>
          </a:prstGeom>
          <a:ln w="22225">
            <a:solidFill>
              <a:srgbClr val="555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TextBox 17457"/>
          <p:cNvSpPr txBox="1"/>
          <p:nvPr/>
        </p:nvSpPr>
        <p:spPr>
          <a:xfrm>
            <a:off x="2792577" y="5010912"/>
            <a:ext cx="19330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55F6E"/>
                </a:solidFill>
                <a:latin typeface="Arial"/>
              </a:rPr>
              <a:t>routes re-drawn around the new threat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082235" y="3346704"/>
            <a:ext cx="2024481" cy="1572768"/>
          </a:xfrm>
          <a:prstGeom prst="roundRect">
            <a:avLst>
              <a:gd name="adj" fmla="val 4651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Oval 17459"/>
          <p:cNvSpPr/>
          <p:nvPr/>
        </p:nvSpPr>
        <p:spPr>
          <a:xfrm>
            <a:off x="5191963" y="3465576"/>
            <a:ext cx="310896" cy="310896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5576011" y="3438144"/>
            <a:ext cx="145755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Find the smallest fix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5191963" y="3895344"/>
            <a:ext cx="180502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4E9F0"/>
                </a:solidFill>
                <a:latin typeface="Arial"/>
              </a:rPr>
              <a:t>Most mission value, with a penalty on every change to the current plan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5191963" y="4617720"/>
            <a:ext cx="180502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3B083"/>
                </a:solidFill>
                <a:latin typeface="Arial"/>
              </a:rPr>
              <a:t>Google OR-Tools CP-SAT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7143292" y="4133088"/>
            <a:ext cx="237744" cy="0"/>
          </a:xfrm>
          <a:prstGeom prst="line">
            <a:avLst/>
          </a:prstGeom>
          <a:ln w="22225">
            <a:solidFill>
              <a:srgbClr val="555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TextBox 17464"/>
          <p:cNvSpPr txBox="1"/>
          <p:nvPr/>
        </p:nvSpPr>
        <p:spPr>
          <a:xfrm>
            <a:off x="5127955" y="5010912"/>
            <a:ext cx="19330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55F6E"/>
                </a:solidFill>
                <a:latin typeface="Arial"/>
              </a:rPr>
              <a:t>2 strikes re-routed, 0 aircraft swapped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7417612" y="3346704"/>
            <a:ext cx="2024481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Oval 17466"/>
          <p:cNvSpPr/>
          <p:nvPr/>
        </p:nvSpPr>
        <p:spPr>
          <a:xfrm>
            <a:off x="7527340" y="3465576"/>
            <a:ext cx="310896" cy="310896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7911388" y="3438144"/>
            <a:ext cx="145755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C2E4A"/>
                </a:solidFill>
                <a:latin typeface="Arial"/>
              </a:rPr>
              <a:t>Explain and double-check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7527340" y="3895344"/>
            <a:ext cx="180502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A reason for each change, an independent rule checker, 2,000 simulated days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7527340" y="4617720"/>
            <a:ext cx="180502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2561A"/>
                </a:solidFill>
                <a:latin typeface="Arial"/>
              </a:rPr>
              <a:t>validator · Monte Carlo</a:t>
            </a:r>
          </a:p>
        </p:txBody>
      </p:sp>
      <p:cxnSp>
        <p:nvCxnSpPr>
          <p:cNvPr id="17471" name="Connector 17470"/>
          <p:cNvCxnSpPr/>
          <p:nvPr/>
        </p:nvCxnSpPr>
        <p:spPr>
          <a:xfrm>
            <a:off x="9478670" y="4133088"/>
            <a:ext cx="237744" cy="0"/>
          </a:xfrm>
          <a:prstGeom prst="line">
            <a:avLst/>
          </a:prstGeom>
          <a:ln w="22225">
            <a:solidFill>
              <a:srgbClr val="555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2" name="TextBox 17471"/>
          <p:cNvSpPr txBox="1"/>
          <p:nvPr/>
        </p:nvSpPr>
        <p:spPr>
          <a:xfrm>
            <a:off x="7463332" y="5010912"/>
            <a:ext cx="19330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55F6E"/>
                </a:solidFill>
                <a:latin typeface="Arial"/>
              </a:rPr>
              <a:t>fulfilment stays at 95% (fresh re-plan: 32 swaps)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9752990" y="3346704"/>
            <a:ext cx="2024481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Oval 17473"/>
          <p:cNvSpPr/>
          <p:nvPr/>
        </p:nvSpPr>
        <p:spPr>
          <a:xfrm>
            <a:off x="9862718" y="3465576"/>
            <a:ext cx="310896" cy="310896"/>
          </a:xfrm>
          <a:prstGeom prst="ellipse">
            <a:avLst/>
          </a:prstGeom>
          <a:solidFill>
            <a:srgbClr val="C2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10246766" y="3438144"/>
            <a:ext cx="145755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C2E4A"/>
                </a:solidFill>
                <a:latin typeface="Arial"/>
              </a:rPr>
              <a:t>Commander decides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9862718" y="3895344"/>
            <a:ext cx="180502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C2E4A"/>
                </a:solidFill>
                <a:latin typeface="Arial"/>
              </a:rPr>
              <a:t>Approve: change orders go out. Reject: nothing moves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9862718" y="4617720"/>
            <a:ext cx="180502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2561A"/>
                </a:solidFill>
                <a:latin typeface="Arial"/>
              </a:rPr>
              <a:t>map + timeline UI · audit log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9798710" y="5010912"/>
            <a:ext cx="19330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55F6E"/>
                </a:solidFill>
                <a:latin typeface="Arial"/>
              </a:rPr>
              <a:t>ready for a decision 1.7 s after the alert</a:t>
            </a:r>
          </a:p>
        </p:txBody>
      </p:sp>
      <p:cxnSp>
        <p:nvCxnSpPr>
          <p:cNvPr id="17479" name="Connector 17478"/>
          <p:cNvCxnSpPr/>
          <p:nvPr/>
        </p:nvCxnSpPr>
        <p:spPr>
          <a:xfrm>
            <a:off x="10765231" y="5422392"/>
            <a:ext cx="0" cy="246888"/>
          </a:xfrm>
          <a:prstGeom prst="line">
            <a:avLst/>
          </a:prstGeom>
          <a:ln w="15875">
            <a:solidFill>
              <a:srgbClr val="A9B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0" name="Connector 17479"/>
          <p:cNvCxnSpPr/>
          <p:nvPr/>
        </p:nvCxnSpPr>
        <p:spPr>
          <a:xfrm flipH="1">
            <a:off x="1423720" y="5669280"/>
            <a:ext cx="9341511" cy="0"/>
          </a:xfrm>
          <a:prstGeom prst="line">
            <a:avLst/>
          </a:prstGeom>
          <a:ln w="15875">
            <a:solidFill>
              <a:srgbClr val="A9B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1" name="Connector 17480"/>
          <p:cNvCxnSpPr/>
          <p:nvPr/>
        </p:nvCxnSpPr>
        <p:spPr>
          <a:xfrm flipV="1">
            <a:off x="1423720" y="5422392"/>
            <a:ext cx="0" cy="246888"/>
          </a:xfrm>
          <a:prstGeom prst="line">
            <a:avLst/>
          </a:prstGeom>
          <a:ln w="15875">
            <a:solidFill>
              <a:srgbClr val="A9B1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2" name="TextBox 17481"/>
          <p:cNvSpPr txBox="1"/>
          <p:nvPr/>
        </p:nvSpPr>
        <p:spPr>
          <a:xfrm>
            <a:off x="2926080" y="5532120"/>
            <a:ext cx="630936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C2E4A"/>
                </a:solidFill>
                <a:latin typeface="Arial"/>
              </a:rPr>
              <a:t>The next event goes round the same loop. </a:t>
            </a:r>
            <a:r>
              <a:rPr sz="1050" b="0" i="0">
                <a:solidFill>
                  <a:srgbClr val="1C2E4A"/>
                </a:solidFill>
                <a:latin typeface="Arial"/>
              </a:rPr>
              <a:t>Missions already airborne stay frozen.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411480" y="594360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E7A46"/>
                </a:solidFill>
                <a:latin typeface="Arial"/>
              </a:rPr>
              <a:t>Built and working: </a:t>
            </a:r>
            <a:r>
              <a:rPr sz="1050" b="0" i="0">
                <a:solidFill>
                  <a:srgbClr val="1C2E4A"/>
                </a:solidFill>
                <a:latin typeface="Arial"/>
              </a:rPr>
              <a:t>55 automated engine tests · a browser test that clicks through the whole flow · every plan passes the independent rule checker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rgbClr val="1F497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300" b="1">
                <a:solidFill>
                  <a:srgbClr val="1C2E4A"/>
                </a:solidFill>
                <a:latin typeface="Arial"/>
              </a:rPr>
              <a:t>NexaBuild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buClr>
                <a:srgbClr val="C2561A"/>
              </a:buClr>
              <a:buFont typeface="Wingdings" pitchFamily="2" charset="2"/>
              <a:buChar char="v"/>
            </a:pPr>
            <a:r>
              <a:rPr sz="140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graphicFrame>
        <p:nvGraphicFramePr>
          <p:cNvPr id="17411" name="Chart 17410"/>
          <p:cNvGraphicFramePr>
            <a:graphicFrameLocks noGrp="1"/>
          </p:cNvGraphicFramePr>
          <p:nvPr/>
        </p:nvGraphicFramePr>
        <p:xfrm>
          <a:off x="411480" y="1417320"/>
          <a:ext cx="5577840" cy="2697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411480" y="4224528"/>
            <a:ext cx="176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E7A46"/>
                </a:solidFill>
                <a:latin typeface="Arial"/>
              </a:rPr>
              <a:t>2.8 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4636008"/>
            <a:ext cx="176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55F6E"/>
                </a:solidFill>
                <a:latin typeface="Arial"/>
              </a:rPr>
              <a:t>to re-plan when the busiest base fogs in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316480" y="4224528"/>
            <a:ext cx="176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E7A46"/>
                </a:solidFill>
                <a:latin typeface="Arial"/>
              </a:rPr>
              <a:t>−71%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316480" y="4636008"/>
            <a:ext cx="176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55F6E"/>
                </a:solidFill>
                <a:latin typeface="Arial"/>
              </a:rPr>
              <a:t>aircraft moved vs a fresh re-plan (14.5 vs 49.5)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21480" y="4224528"/>
            <a:ext cx="176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E7A46"/>
                </a:solidFill>
                <a:latin typeface="Arial"/>
              </a:rPr>
              <a:t>70%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221480" y="4636008"/>
            <a:ext cx="176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55F6E"/>
                </a:solidFill>
                <a:latin typeface="Arial"/>
              </a:rPr>
              <a:t>of fog hours forecast (raw weather model: 26%)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1480" y="5138928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548640" y="5212080"/>
            <a:ext cx="5349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C2561A"/>
              </a:buClr>
              <a:buFont typeface="Arial"/>
              <a:buChar char="•"/>
            </a:pPr>
            <a:r>
              <a:rPr sz="1100" b="1" i="0">
                <a:solidFill>
                  <a:srgbClr val="1C2E4A"/>
                </a:solidFill>
                <a:latin typeface="Arial"/>
              </a:rPr>
              <a:t>Already built and tested: </a:t>
            </a:r>
            <a:r>
              <a:rPr sz="1100" b="0" i="0">
                <a:solidFill>
                  <a:srgbClr val="1C2E4A"/>
                </a:solidFill>
                <a:latin typeface="Arial"/>
              </a:rPr>
              <a:t>engine, map, timeline, copilot; 55 tests</a:t>
            </a:r>
          </a:p>
          <a:p>
            <a:pPr algn="l" marL="155448" indent="-155448">
              <a:spcAft>
                <a:spcPts val="200"/>
              </a:spcAft>
              <a:buClr>
                <a:srgbClr val="C2561A"/>
              </a:buClr>
              <a:buFont typeface="Arial"/>
              <a:buChar char="•"/>
            </a:pPr>
            <a:r>
              <a:rPr sz="1100" b="0" i="0">
                <a:solidFill>
                  <a:srgbClr val="1C2E4A"/>
                </a:solidFill>
                <a:latin typeface="Arial"/>
              </a:rPr>
              <a:t>Every plan passes an independent rule checker </a:t>
            </a:r>
            <a:r>
              <a:rPr sz="1100" b="0" i="0">
                <a:solidFill>
                  <a:srgbClr val="555F6E"/>
                </a:solidFill>
                <a:latin typeface="Arial"/>
              </a:rPr>
              <a:t>(crew rest, stocks, weather, airspace)</a:t>
            </a:r>
          </a:p>
          <a:p>
            <a:pPr algn="l" marL="155448" indent="-155448">
              <a:spcAft>
                <a:spcPts val="0"/>
              </a:spcAft>
              <a:buClr>
                <a:srgbClr val="C2561A"/>
              </a:buClr>
              <a:buFont typeface="Arial"/>
              <a:buChar char="•"/>
            </a:pPr>
            <a:r>
              <a:rPr sz="1100" b="0" i="0">
                <a:solidFill>
                  <a:srgbClr val="1C2E4A"/>
                </a:solidFill>
                <a:latin typeface="Arial"/>
              </a:rPr>
              <a:t>Open-source stack on one laptop, offline: </a:t>
            </a:r>
            <a:r>
              <a:rPr sz="1100" b="1" i="0">
                <a:solidFill>
                  <a:srgbClr val="1C2E4A"/>
                </a:solidFill>
                <a:latin typeface="Arial"/>
              </a:rPr>
              <a:t>no licence or cloud cost</a:t>
            </a:r>
          </a:p>
        </p:txBody>
      </p:sp>
      <p:graphicFrame>
        <p:nvGraphicFramePr>
          <p:cNvPr id="17420" name="Table 17419"/>
          <p:cNvGraphicFramePr>
            <a:graphicFrameLocks noGrp="1"/>
          </p:cNvGraphicFramePr>
          <p:nvPr/>
        </p:nvGraphicFramePr>
        <p:xfrm>
          <a:off x="6263640" y="1115568"/>
          <a:ext cx="5513832" cy="498348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94560"/>
                <a:gridCol w="3319272"/>
              </a:tblGrid>
              <a:tr h="502920">
                <a:tc>
                  <a:txBody>
                    <a:bodyPr wrap="square"/>
                    <a:lstStyle/>
                    <a:p>
                      <a:pPr marL="219456" indent="-219456">
                        <a:buClr>
                          <a:srgbClr val="F3B083"/>
                        </a:buClr>
                        <a:buFont typeface="Wingdings" pitchFamily="2" charset="2"/>
                        <a:buChar char="v"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219456" indent="-219456">
                        <a:buClr>
                          <a:srgbClr val="F3B083"/>
                        </a:buClr>
                        <a:buFont typeface="Wingdings" pitchFamily="2" charset="2"/>
                        <a:buChar char="v"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1C2E4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C2E4A"/>
                          </a:solidFill>
                          <a:latin typeface="Arial"/>
                        </a:rPr>
                        <a:t>Real data is classified; </a:t>
                      </a:r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legacy systems such as IACCS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One adapter per data source behind one world model; notional data until access is granted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C2E4A"/>
                          </a:solidFill>
                          <a:latin typeface="Arial"/>
                        </a:rPr>
                        <a:t>Commanders may not trust </a:t>
                      </a:r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machine advice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A reason for every choice, a human approves every change, an independent checker (DRDO ETAI principles)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C2E4A"/>
                          </a:solidFill>
                          <a:latin typeface="Arial"/>
                        </a:rPr>
                        <a:t>Theatre scale: </a:t>
                      </a:r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100+ missions a day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~40 missions plan in 4–10 s today. Next: large-neighbourhood search, split by sector and time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C2E4A"/>
                          </a:solidFill>
                          <a:latin typeface="Arial"/>
                        </a:rPr>
                        <a:t>Forecasts drift </a:t>
                      </a:r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with season and region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Probabilities, not yes/no; tested on a held-out winter; retrained per region and season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C2E4A"/>
                          </a:solidFill>
                          <a:latin typeface="Arial"/>
                        </a:rPr>
                        <a:t>Network cut off </a:t>
                      </a:r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(degraded links)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C2E4A"/>
                          </a:solidFill>
                          <a:latin typeface="Arial"/>
                        </a:rPr>
                        <a:t>Runs fully offline today. Next: a node at each base that syncs when the link returns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rgbClr val="1F497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300" b="1">
                <a:solidFill>
                  <a:srgbClr val="1C2E4A"/>
                </a:solidFill>
                <a:latin typeface="Arial"/>
              </a:rPr>
              <a:t>NexaBuild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buClr>
                <a:srgbClr val="C2561A"/>
              </a:buClr>
              <a:buFont typeface="Wingdings" pitchFamily="2" charset="2"/>
              <a:buChar char="v"/>
            </a:pPr>
            <a:r>
              <a:rPr sz="1400" b="1" i="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44752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icon-bg-map"/>
          <p:cNvSpPr/>
          <p:nvPr/>
        </p:nvSpPr>
        <p:spPr>
          <a:xfrm>
            <a:off x="548640" y="1572768"/>
            <a:ext cx="475488" cy="475488"/>
          </a:xfrm>
          <a:prstGeom prst="ellipse">
            <a:avLst/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673352"/>
            <a:ext cx="274320" cy="27432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143000" y="155448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C2E4A"/>
                </a:solidFill>
                <a:latin typeface="Arial"/>
              </a:rPr>
              <a:t>Air tasking cell, Air HQ and Commands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48640" y="21945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E7A46"/>
                </a:solidFill>
                <a:latin typeface="Arial"/>
              </a:rPr>
              <a:t>Seconds, not hours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258775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F6E"/>
                </a:solidFill>
                <a:latin typeface="Arial"/>
              </a:rPr>
              <a:t>to re-plan after fog, an aircraft going U/S or a pop-up threat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10128" y="1444752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icon-bg-plane"/>
          <p:cNvSpPr/>
          <p:nvPr/>
        </p:nvSpPr>
        <p:spPr>
          <a:xfrm>
            <a:off x="3447288" y="1572768"/>
            <a:ext cx="475488" cy="475488"/>
          </a:xfrm>
          <a:prstGeom prst="ellipse">
            <a:avLst/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9" name="Picture 17418" descr="pl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1673352"/>
            <a:ext cx="274320" cy="27432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041648" y="155448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C2E4A"/>
                </a:solidFill>
                <a:latin typeface="Arial"/>
              </a:rPr>
              <a:t>Squadrons and base operations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47288" y="21945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E7A46"/>
                </a:solidFill>
                <a:latin typeface="Arial"/>
              </a:rPr>
              <a:t>−71% churn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447288" y="258775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F6E"/>
                </a:solidFill>
                <a:latin typeface="Arial"/>
              </a:rPr>
              <a:t>14.5 aircraft moved instead of 49.5 when a base fogs in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08776" y="1444752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icon-bg-crew"/>
          <p:cNvSpPr/>
          <p:nvPr/>
        </p:nvSpPr>
        <p:spPr>
          <a:xfrm>
            <a:off x="6345936" y="1572768"/>
            <a:ext cx="475488" cy="475488"/>
          </a:xfrm>
          <a:prstGeom prst="ellipse">
            <a:avLst/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cr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673352"/>
            <a:ext cx="274320" cy="27432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6940296" y="155448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C2E4A"/>
                </a:solidFill>
                <a:latin typeface="Arial"/>
              </a:rPr>
              <a:t>Aircrew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345936" y="21945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E7A46"/>
                </a:solidFill>
                <a:latin typeface="Arial"/>
              </a:rPr>
              <a:t>Rested crews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45936" y="258775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F6E"/>
                </a:solidFill>
                <a:latin typeface="Arial"/>
              </a:rPr>
              <a:t>rest, fatigue and night currency are hard rules in every plan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9107424" y="1444752"/>
            <a:ext cx="2670048" cy="1755648"/>
          </a:xfrm>
          <a:prstGeom prst="roundRect">
            <a:avLst>
              <a:gd name="adj" fmla="val 312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icon-bg-lifebuoy"/>
          <p:cNvSpPr/>
          <p:nvPr/>
        </p:nvSpPr>
        <p:spPr>
          <a:xfrm>
            <a:off x="9244584" y="1572768"/>
            <a:ext cx="475488" cy="475488"/>
          </a:xfrm>
          <a:prstGeom prst="ellipse">
            <a:avLst/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lifebuo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5167" y="1673352"/>
            <a:ext cx="274320" cy="27432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9838944" y="155448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C2E4A"/>
                </a:solidFill>
                <a:latin typeface="Arial"/>
              </a:rPr>
              <a:t>NDMA and state disaster response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244584" y="21945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E7A46"/>
                </a:solidFill>
                <a:latin typeface="Arial"/>
              </a:rPr>
              <a:t>+12.9 pts relief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9244584" y="258775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F6E"/>
                </a:solidFill>
                <a:latin typeface="Arial"/>
              </a:rPr>
              <a:t>of requested flood-relief tonnage lifted by the same fleet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11480" y="3401568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buClr>
                <a:srgbClr val="C2561A"/>
              </a:buClr>
              <a:buFont typeface="Wingdings" pitchFamily="2" charset="2"/>
              <a:buChar char="v"/>
            </a:pPr>
            <a:r>
              <a:rPr sz="1400" b="1" i="0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11480" y="3803904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C2561A"/>
                </a:solidFill>
                <a:latin typeface="Arial"/>
              </a:rPr>
              <a:t>Operational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828800" y="3767328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+12.4 pts mission fulfilment from the same aircraft and crews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11480" y="42793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C2561A"/>
                </a:solidFill>
                <a:latin typeface="Arial"/>
              </a:rPr>
              <a:t>Economic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828800" y="4242816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Open-source, one laptop, no licences; idle aircraft become ground spares at no cost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11480" y="47548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C2561A"/>
                </a:solidFill>
                <a:latin typeface="Arial"/>
              </a:rPr>
              <a:t>Social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1828800" y="4718304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Flood and earthquake relief planned rescues-first: 94.5% and 88.1% of relief lifted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11480" y="523036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C2561A"/>
                </a:solidFill>
                <a:latin typeface="Arial"/>
              </a:rPr>
              <a:t>Environmental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828800" y="5193792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Every sortie carries a cost in the plan, so none is flown without need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11480" y="570585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C2561A"/>
                </a:solidFill>
                <a:latin typeface="Arial"/>
              </a:rPr>
              <a:t>Strategic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1828800" y="5669280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E4A"/>
                </a:solidFill>
                <a:latin typeface="Arial"/>
              </a:rPr>
              <a:t>Indigenous and air-gapped: no foreign cloud, model or map service</a:t>
            </a:r>
          </a:p>
        </p:txBody>
      </p:sp>
      <p:pic>
        <p:nvPicPr>
          <p:cNvPr id="17446" name="Picture 17445" descr="quak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3703320"/>
            <a:ext cx="5120640" cy="2293620"/>
          </a:xfrm>
          <a:prstGeom prst="rect">
            <a:avLst/>
          </a:prstGeom>
          <a:ln w="9525">
            <a:solidFill>
              <a:srgbClr val="D3D9E1"/>
            </a:solidFill>
          </a:ln>
        </p:spPr>
      </p:pic>
      <p:sp>
        <p:nvSpPr>
          <p:cNvPr id="17447" name="TextBox 17446"/>
          <p:cNvSpPr txBox="1"/>
          <p:nvPr/>
        </p:nvSpPr>
        <p:spPr>
          <a:xfrm>
            <a:off x="6656832" y="604266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55F6E"/>
                </a:solidFill>
                <a:latin typeface="Arial"/>
              </a:rPr>
              <a:t>Same engine, earthquake relief: </a:t>
            </a:r>
            <a:r>
              <a:rPr sz="1000" b="0" i="0">
                <a:solidFill>
                  <a:srgbClr val="555F6E"/>
                </a:solidFill>
                <a:latin typeface="Arial"/>
              </a:rPr>
              <a:t>thin air at 4,750 m rules out the medium helicopter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rgbClr val="1F497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300" b="1">
                <a:solidFill>
                  <a:srgbClr val="1C2E4A"/>
                </a:solidFill>
                <a:latin typeface="Arial"/>
              </a:rPr>
              <a:t>NexaBuild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buClr>
                <a:srgbClr val="C2561A"/>
              </a:buClr>
              <a:buFont typeface="Wingdings" pitchFamily="2" charset="2"/>
              <a:buChar char="v"/>
            </a:pPr>
            <a:r>
              <a:rPr sz="140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11480" y="1463040"/>
          <a:ext cx="11365992" cy="416966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892040"/>
                <a:gridCol w="3108960"/>
                <a:gridCol w="336499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Link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we took from it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1C2E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1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IAF AI decision-support tools for IACCS (IDRW)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4"/>
                        </a:rPr>
                        <a:t>idrw.org/?p=383033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Where a tool like this would plug in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2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DRDO ETAI framework for trustworthy AI in defence (2024)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5"/>
                        </a:rPr>
                        <a:t>indiaai.gov.in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Human approval, reasons, independent checks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3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Kessel Run KRADOS and Slapshot: ATO in the cloud (USAF)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6"/>
                        </a:rPr>
                        <a:t>airandspaceforces.com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What exists abroad; the gap is minimal-change retasking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4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DARPA Adapting Cross-Domain Kill-Webs (ACK)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7"/>
                        </a:rPr>
                        <a:t>darpa.mil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A decision aid to task and retask quickly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5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Google OR-Tools, CP-SAT constraint solver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8"/>
                        </a:rPr>
                        <a:t>developers.google.com/optimization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The planning and retasking engine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6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Glahn &amp; Lowry (1972), Model Output Statistics, J. Appl. Meteor. 11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9"/>
                        </a:rPr>
                        <a:t>doi.org/10.1175/1520-0450(1972)011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How the fog forecast is built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7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Borbély (1982), two-process model of sleep; SAFTE in ICAO FRMS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10"/>
                        </a:rPr>
                        <a:t>icao.int (FRMS modelling)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Crew fatigue and rest windows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8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Minimal-deviation rescheduling under disruption (METU)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11"/>
                        </a:rPr>
                        <a:t>avesis.metu.edu.tr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A penalty on changing the current plan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 9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Open-Meteo forecasts · IEM METAR archive · Natural Earth (India view)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12"/>
                        </a:rPr>
                        <a:t>open-meteo.com · mesonet.agron.iastate.edu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Real weather, airport observations, maps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2561A"/>
                          </a:solidFill>
                          <a:latin typeface="Arial"/>
                        </a:rPr>
                        <a:t>10  </a:t>
                      </a:r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Flexible Use of Airspace in India (ICAO APAC IP08, 2023)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497D"/>
                          </a:solidFill>
                          <a:latin typeface="Arial"/>
                          <a:hlinkClick r:id="rId13"/>
                        </a:rPr>
                        <a:t>icao.int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E4A"/>
                          </a:solidFill>
                          <a:latin typeface="Arial"/>
                        </a:rPr>
                        <a:t>Airspace that opens and closes in the day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D3D9E1"/>
                      </a:solidFill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7412" name="prototype-link"/>
          <p:cNvSpPr/>
          <p:nvPr/>
        </p:nvSpPr>
        <p:spPr>
          <a:xfrm>
            <a:off x="411480" y="5760720"/>
            <a:ext cx="11365992" cy="438912"/>
          </a:xfrm>
          <a:prstGeom prst="roundRect">
            <a:avLst>
              <a:gd name="adj" fmla="val 125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48640" y="5779008"/>
            <a:ext cx="11064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C2E4A"/>
                </a:solidFill>
                <a:latin typeface="Arial"/>
              </a:rPr>
              <a:t>Our prototype (open source): </a:t>
            </a:r>
            <a:r>
              <a:rPr sz="1100" b="0" i="0">
                <a:solidFill>
                  <a:srgbClr val="1F497D"/>
                </a:solidFill>
                <a:latin typeface="Arial"/>
                <a:hlinkClick r:id="rId14"/>
              </a:rPr>
              <a:t>github.com/DeepakSinghhh/Air-power-Dynamic</a:t>
            </a:r>
            <a:r>
              <a:rPr sz="1100" b="0" i="0">
                <a:solidFill>
                  <a:srgbClr val="555F6E"/>
                </a:solidFill>
                <a:latin typeface="Arial"/>
              </a:rPr>
              <a:t>   ·   all scenario data is notional; maps use India's official boundary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497D"/>
      </a:hlink>
      <a:folHlink>
        <a:srgbClr val="1F49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